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embeddedFontLst>
    <p:embeddedFont>
      <p:font typeface="Corbel"/>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6AD8B8-187C-49E5-94B0-8BA135967B80}">
  <a:tblStyle styleId="{EC6AD8B8-187C-49E5-94B0-8BA135967B80}" styleName="Table_0">
    <a:wholeTbl>
      <a:tcTxStyle b="off" i="off">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AF1878A-92A8-4652-806F-8DDCA8F434B7}"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orbel-bold.fntdata"/><Relationship Id="rId14" Type="http://schemas.openxmlformats.org/officeDocument/2006/relationships/font" Target="fonts/Corbel-regular.fntdata"/><Relationship Id="rId17" Type="http://schemas.openxmlformats.org/officeDocument/2006/relationships/font" Target="fonts/Corbel-boldItalic.fntdata"/><Relationship Id="rId16" Type="http://schemas.openxmlformats.org/officeDocument/2006/relationships/font" Target="fonts/Corbel-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7" name="Google Shape;14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4" name="Google Shape;1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6" name="Google Shape;1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74" name="Google Shape;17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83" name="Google Shape;1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1" name="Google Shape;1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9" name="Google Shape;1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8" name="Google Shape;2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2"/>
          <p:cNvGrpSpPr/>
          <p:nvPr/>
        </p:nvGrpSpPr>
        <p:grpSpPr>
          <a:xfrm>
            <a:off x="546100" y="-4763"/>
            <a:ext cx="5014912" cy="6862763"/>
            <a:chOff x="2928938" y="-4763"/>
            <a:chExt cx="5014912" cy="6862763"/>
          </a:xfrm>
        </p:grpSpPr>
        <p:sp>
          <p:nvSpPr>
            <p:cNvPr id="24" name="Google Shape;24;p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25" name="Google Shape;25;p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Google Shape;26;p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27" name="Google Shape;27;p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5E0D0E"/>
            </a:solidFill>
            <a:ln>
              <a:noFill/>
            </a:ln>
          </p:spPr>
        </p:sp>
        <p:sp>
          <p:nvSpPr>
            <p:cNvPr id="28" name="Google Shape;28;p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8D1415"/>
            </a:solidFill>
            <a:ln>
              <a:noFill/>
            </a:ln>
          </p:spPr>
        </p:sp>
        <p:sp>
          <p:nvSpPr>
            <p:cNvPr id="29" name="Google Shape;29;p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0" name="Google Shape;30;p2"/>
          <p:cNvSpPr txBox="1"/>
          <p:nvPr>
            <p:ph type="ctrTitle"/>
          </p:nvPr>
        </p:nvSpPr>
        <p:spPr>
          <a:xfrm>
            <a:off x="2928401" y="1380068"/>
            <a:ext cx="8574622" cy="2616199"/>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6000"/>
              <a:buFont typeface="Corbe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
          <p:cNvSpPr txBox="1"/>
          <p:nvPr>
            <p:ph idx="1" type="subTitle"/>
          </p:nvPr>
        </p:nvSpPr>
        <p:spPr>
          <a:xfrm>
            <a:off x="4515377" y="3996267"/>
            <a:ext cx="6987645" cy="1388534"/>
          </a:xfrm>
          <a:prstGeom prst="rect">
            <a:avLst/>
          </a:prstGeom>
          <a:noFill/>
          <a:ln>
            <a:noFill/>
          </a:ln>
        </p:spPr>
        <p:txBody>
          <a:bodyPr anchorCtr="0" anchor="t" bIns="45700" lIns="91425" spcFirstLastPara="1" rIns="91425" wrap="square" tIns="45700">
            <a:normAutofit/>
          </a:bodyPr>
          <a:lstStyle>
            <a:lvl1pPr lvl="0" algn="r">
              <a:lnSpc>
                <a:spcPct val="100000"/>
              </a:lnSpc>
              <a:spcBef>
                <a:spcPts val="420"/>
              </a:spcBef>
              <a:spcAft>
                <a:spcPts val="0"/>
              </a:spcAft>
              <a:buSzPts val="3045"/>
              <a:buNone/>
              <a:defRPr sz="21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2" name="Google Shape;32;p2"/>
          <p:cNvSpPr txBox="1"/>
          <p:nvPr>
            <p:ph idx="12" type="sldNum"/>
          </p:nvPr>
        </p:nvSpPr>
        <p:spPr>
          <a:xfrm>
            <a:off x="11503031" y="6401263"/>
            <a:ext cx="5511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33" name="Google Shape;33;p2"/>
          <p:cNvPicPr preferRelativeResize="0"/>
          <p:nvPr/>
        </p:nvPicPr>
        <p:blipFill rotWithShape="1">
          <a:blip r:embed="rId2">
            <a:alphaModFix/>
          </a:blip>
          <a:srcRect b="0" l="0" r="0" t="0"/>
          <a:stretch/>
        </p:blipFill>
        <p:spPr>
          <a:xfrm>
            <a:off x="0" y="0"/>
            <a:ext cx="960118" cy="960118"/>
          </a:xfrm>
          <a:prstGeom prst="rect">
            <a:avLst/>
          </a:prstGeom>
          <a:noFill/>
          <a:ln>
            <a:noFill/>
          </a:ln>
          <a:effectLst>
            <a:outerShdw blurRad="57150" rotWithShape="0" algn="bl" dir="5400000" dist="19050">
              <a:srgbClr val="000000">
                <a:alpha val="49803"/>
              </a:srgbClr>
            </a:outerShdw>
            <a:reflection blurRad="0" dir="5400000" dist="38100" endA="0" endPos="30000" fadeDir="5400012" kx="0" rotWithShape="0" algn="bl" stPos="0" sy="-100000" ky="0"/>
          </a:effectLst>
        </p:spPr>
      </p:pic>
      <p:sp>
        <p:nvSpPr>
          <p:cNvPr id="34" name="Google Shape;34;p2"/>
          <p:cNvSpPr txBox="1"/>
          <p:nvPr/>
        </p:nvSpPr>
        <p:spPr>
          <a:xfrm>
            <a:off x="5039725" y="6422275"/>
            <a:ext cx="4758600" cy="3231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(Department Of Mechatronics &amp; Biomedical Engineering, AIR University, Pakistan)</a:t>
            </a:r>
            <a:endParaRPr b="0" i="0" sz="9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35" name="Shape 35"/>
        <p:cNvGrpSpPr/>
        <p:nvPr/>
      </p:nvGrpSpPr>
      <p:grpSpPr>
        <a:xfrm>
          <a:off x="0" y="0"/>
          <a:ext cx="0" cy="0"/>
          <a:chOff x="0" y="0"/>
          <a:chExt cx="0" cy="0"/>
        </a:xfrm>
      </p:grpSpPr>
      <p:sp>
        <p:nvSpPr>
          <p:cNvPr id="36" name="Google Shape;36;p3"/>
          <p:cNvSpPr txBox="1"/>
          <p:nvPr>
            <p:ph type="title"/>
          </p:nvPr>
        </p:nvSpPr>
        <p:spPr>
          <a:xfrm>
            <a:off x="1484311" y="4732865"/>
            <a:ext cx="1001871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
          <p:cNvSpPr/>
          <p:nvPr>
            <p:ph idx="2" type="pic"/>
          </p:nvPr>
        </p:nvSpPr>
        <p:spPr>
          <a:xfrm>
            <a:off x="2386012" y="932112"/>
            <a:ext cx="8225944"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38" name="Google Shape;38;p3"/>
          <p:cNvSpPr txBox="1"/>
          <p:nvPr>
            <p:ph idx="1" type="body"/>
          </p:nvPr>
        </p:nvSpPr>
        <p:spPr>
          <a:xfrm>
            <a:off x="1484311" y="5299603"/>
            <a:ext cx="1001871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39" name="Google Shape;39;p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2" name="Shape 42"/>
        <p:cNvGrpSpPr/>
        <p:nvPr/>
      </p:nvGrpSpPr>
      <p:grpSpPr>
        <a:xfrm>
          <a:off x="0" y="0"/>
          <a:ext cx="0" cy="0"/>
          <a:chOff x="0" y="0"/>
          <a:chExt cx="0" cy="0"/>
        </a:xfrm>
      </p:grpSpPr>
      <p:sp>
        <p:nvSpPr>
          <p:cNvPr id="43" name="Google Shape;43;p4"/>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45" name="Google Shape;45;p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
          <p:cNvSpPr txBox="1"/>
          <p:nvPr>
            <p:ph idx="12" type="sldNum"/>
          </p:nvPr>
        </p:nvSpPr>
        <p:spPr>
          <a:xfrm>
            <a:off x="11503031" y="6385131"/>
            <a:ext cx="5511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47" name="Google Shape;47;p4"/>
          <p:cNvPicPr preferRelativeResize="0"/>
          <p:nvPr/>
        </p:nvPicPr>
        <p:blipFill rotWithShape="1">
          <a:blip r:embed="rId2">
            <a:alphaModFix/>
          </a:blip>
          <a:srcRect b="0" l="0" r="0" t="0"/>
          <a:stretch/>
        </p:blipFill>
        <p:spPr>
          <a:xfrm>
            <a:off x="0" y="0"/>
            <a:ext cx="960118" cy="960118"/>
          </a:xfrm>
          <a:prstGeom prst="rect">
            <a:avLst/>
          </a:prstGeom>
          <a:noFill/>
          <a:ln>
            <a:noFill/>
          </a:ln>
          <a:effectLst>
            <a:outerShdw blurRad="57150" rotWithShape="0" algn="bl" dir="5400000" dist="19050">
              <a:srgbClr val="000000">
                <a:alpha val="49803"/>
              </a:srgbClr>
            </a:outerShdw>
            <a:reflection blurRad="0" dir="5400000" dist="38100" endA="0" endPos="30000" fadeDir="5400012" kx="0" rotWithShape="0" algn="bl" stPos="0" sy="-100000" ky="0"/>
          </a:effectLst>
        </p:spPr>
      </p:pic>
      <p:sp>
        <p:nvSpPr>
          <p:cNvPr id="48" name="Google Shape;48;p4"/>
          <p:cNvSpPr txBox="1"/>
          <p:nvPr/>
        </p:nvSpPr>
        <p:spPr>
          <a:xfrm>
            <a:off x="191425" y="6406125"/>
            <a:ext cx="643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P2123</a:t>
            </a:r>
            <a:endParaRPr b="0" i="0" sz="900" u="none" cap="none" strike="noStrike">
              <a:solidFill>
                <a:schemeClr val="dk1"/>
              </a:solidFill>
              <a:latin typeface="Arial"/>
              <a:ea typeface="Arial"/>
              <a:cs typeface="Arial"/>
              <a:sym typeface="Arial"/>
            </a:endParaRPr>
          </a:p>
        </p:txBody>
      </p:sp>
      <p:sp>
        <p:nvSpPr>
          <p:cNvPr id="49" name="Google Shape;49;p4"/>
          <p:cNvSpPr txBox="1"/>
          <p:nvPr/>
        </p:nvSpPr>
        <p:spPr>
          <a:xfrm>
            <a:off x="3866025" y="6406125"/>
            <a:ext cx="46056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(Department Of Mechatronics &amp; Biomedical Engineering, AIR University, Pakistan)</a:t>
            </a:r>
            <a:endParaRPr b="0" i="0" sz="9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5"/>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
          <p:cNvSpPr txBox="1"/>
          <p:nvPr>
            <p:ph idx="1" type="body"/>
          </p:nvPr>
        </p:nvSpPr>
        <p:spPr>
          <a:xfrm>
            <a:off x="1484312" y="2666999"/>
            <a:ext cx="4895055"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3" name="Google Shape;53;p5"/>
          <p:cNvSpPr txBox="1"/>
          <p:nvPr>
            <p:ph idx="2" type="body"/>
          </p:nvPr>
        </p:nvSpPr>
        <p:spPr>
          <a:xfrm>
            <a:off x="6607967" y="2667000"/>
            <a:ext cx="4895056" cy="3124200"/>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pic>
        <p:nvPicPr>
          <p:cNvPr id="54" name="Google Shape;54;p5"/>
          <p:cNvPicPr preferRelativeResize="0"/>
          <p:nvPr/>
        </p:nvPicPr>
        <p:blipFill rotWithShape="1">
          <a:blip r:embed="rId2">
            <a:alphaModFix/>
          </a:blip>
          <a:srcRect b="0" l="0" r="0" t="0"/>
          <a:stretch/>
        </p:blipFill>
        <p:spPr>
          <a:xfrm>
            <a:off x="0" y="0"/>
            <a:ext cx="960118" cy="960118"/>
          </a:xfrm>
          <a:prstGeom prst="rect">
            <a:avLst/>
          </a:prstGeom>
          <a:noFill/>
          <a:ln>
            <a:noFill/>
          </a:ln>
          <a:effectLst>
            <a:outerShdw blurRad="57150" rotWithShape="0" algn="bl" dir="5400000" dist="19050">
              <a:srgbClr val="000000">
                <a:alpha val="49803"/>
              </a:srgbClr>
            </a:outerShdw>
            <a:reflection blurRad="0" dir="5400000" dist="38100" endA="0" endPos="30000" fadeDir="5400012" kx="0" rotWithShape="0" algn="bl" stPos="0" sy="-100000" ky="0"/>
          </a:effectLst>
        </p:spPr>
      </p:pic>
      <p:sp>
        <p:nvSpPr>
          <p:cNvPr id="55" name="Google Shape;55;p5"/>
          <p:cNvSpPr txBox="1"/>
          <p:nvPr/>
        </p:nvSpPr>
        <p:spPr>
          <a:xfrm>
            <a:off x="136325" y="6422275"/>
            <a:ext cx="8238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P2123</a:t>
            </a:r>
            <a:endParaRPr b="0" i="0" sz="900" u="none" cap="none" strike="noStrike">
              <a:solidFill>
                <a:schemeClr val="dk1"/>
              </a:solidFill>
              <a:latin typeface="Arial"/>
              <a:ea typeface="Arial"/>
              <a:cs typeface="Arial"/>
              <a:sym typeface="Arial"/>
            </a:endParaRPr>
          </a:p>
        </p:txBody>
      </p:sp>
      <p:sp>
        <p:nvSpPr>
          <p:cNvPr id="56" name="Google Shape;56;p5"/>
          <p:cNvSpPr txBox="1"/>
          <p:nvPr/>
        </p:nvSpPr>
        <p:spPr>
          <a:xfrm>
            <a:off x="4114363" y="6422275"/>
            <a:ext cx="4758600" cy="3231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(Department Of Mechatronics &amp; Biomedical Engineering, AIR University, Pakistan)</a:t>
            </a:r>
            <a:endParaRPr b="0" i="0" sz="900" u="none" cap="none" strike="noStrike">
              <a:solidFill>
                <a:schemeClr val="dk1"/>
              </a:solidFill>
              <a:latin typeface="Arial"/>
              <a:ea typeface="Arial"/>
              <a:cs typeface="Arial"/>
              <a:sym typeface="Arial"/>
            </a:endParaRPr>
          </a:p>
        </p:txBody>
      </p:sp>
      <p:sp>
        <p:nvSpPr>
          <p:cNvPr id="57" name="Google Shape;57;p5"/>
          <p:cNvSpPr txBox="1"/>
          <p:nvPr>
            <p:ph idx="12" type="sldNum"/>
          </p:nvPr>
        </p:nvSpPr>
        <p:spPr>
          <a:xfrm>
            <a:off x="11503031" y="6401263"/>
            <a:ext cx="5511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6"/>
          <p:cNvSpPr txBox="1"/>
          <p:nvPr>
            <p:ph type="title"/>
          </p:nvPr>
        </p:nvSpPr>
        <p:spPr>
          <a:xfrm>
            <a:off x="2572279" y="2666999"/>
            <a:ext cx="8930747" cy="2110382"/>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
          <p:cNvSpPr txBox="1"/>
          <p:nvPr>
            <p:ph idx="1" type="body"/>
          </p:nvPr>
        </p:nvSpPr>
        <p:spPr>
          <a:xfrm>
            <a:off x="2572278" y="4777381"/>
            <a:ext cx="8930748"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61" name="Google Shape;61;p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4" name="Shape 64"/>
        <p:cNvGrpSpPr/>
        <p:nvPr/>
      </p:nvGrpSpPr>
      <p:grpSpPr>
        <a:xfrm>
          <a:off x="0" y="0"/>
          <a:ext cx="0" cy="0"/>
          <a:chOff x="0" y="0"/>
          <a:chExt cx="0" cy="0"/>
        </a:xfrm>
      </p:grpSpPr>
      <p:sp>
        <p:nvSpPr>
          <p:cNvPr id="65" name="Google Shape;65;p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7"/>
          <p:cNvSpPr txBox="1"/>
          <p:nvPr>
            <p:ph idx="1" type="body"/>
          </p:nvPr>
        </p:nvSpPr>
        <p:spPr>
          <a:xfrm>
            <a:off x="1772179" y="2658533"/>
            <a:ext cx="46071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8D1415"/>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7" name="Google Shape;67;p7"/>
          <p:cNvSpPr txBox="1"/>
          <p:nvPr>
            <p:ph idx="2" type="body"/>
          </p:nvPr>
        </p:nvSpPr>
        <p:spPr>
          <a:xfrm>
            <a:off x="1484311"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8" name="Google Shape;68;p7"/>
          <p:cNvSpPr txBox="1"/>
          <p:nvPr>
            <p:ph idx="3" type="body"/>
          </p:nvPr>
        </p:nvSpPr>
        <p:spPr>
          <a:xfrm>
            <a:off x="6880487" y="2667000"/>
            <a:ext cx="462253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8D1415"/>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9" name="Google Shape;69;p7"/>
          <p:cNvSpPr txBox="1"/>
          <p:nvPr>
            <p:ph idx="4" type="body"/>
          </p:nvPr>
        </p:nvSpPr>
        <p:spPr>
          <a:xfrm>
            <a:off x="6607967"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70" name="Google Shape;70;p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8"/>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8" name="Shape 78"/>
        <p:cNvGrpSpPr/>
        <p:nvPr/>
      </p:nvGrpSpPr>
      <p:grpSpPr>
        <a:xfrm>
          <a:off x="0" y="0"/>
          <a:ext cx="0" cy="0"/>
          <a:chOff x="0" y="0"/>
          <a:chExt cx="0" cy="0"/>
        </a:xfrm>
      </p:grpSpPr>
      <p:sp>
        <p:nvSpPr>
          <p:cNvPr id="79" name="Google Shape;79;p9"/>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9"/>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2" name="Shape 82"/>
        <p:cNvGrpSpPr/>
        <p:nvPr/>
      </p:nvGrpSpPr>
      <p:grpSpPr>
        <a:xfrm>
          <a:off x="0" y="0"/>
          <a:ext cx="0" cy="0"/>
          <a:chOff x="0" y="0"/>
          <a:chExt cx="0" cy="0"/>
        </a:xfrm>
      </p:grpSpPr>
      <p:sp>
        <p:nvSpPr>
          <p:cNvPr id="83" name="Google Shape;83;p10"/>
          <p:cNvSpPr txBox="1"/>
          <p:nvPr>
            <p:ph type="title"/>
          </p:nvPr>
        </p:nvSpPr>
        <p:spPr>
          <a:xfrm>
            <a:off x="1484312" y="1600200"/>
            <a:ext cx="3549121"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0"/>
          <p:cNvSpPr txBox="1"/>
          <p:nvPr>
            <p:ph idx="1" type="body"/>
          </p:nvPr>
        </p:nvSpPr>
        <p:spPr>
          <a:xfrm>
            <a:off x="5262033" y="685799"/>
            <a:ext cx="6240990"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85" name="Google Shape;85;p10"/>
          <p:cNvSpPr txBox="1"/>
          <p:nvPr>
            <p:ph idx="2" type="body"/>
          </p:nvPr>
        </p:nvSpPr>
        <p:spPr>
          <a:xfrm>
            <a:off x="1484312" y="2971800"/>
            <a:ext cx="3549121"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6" name="Google Shape;86;p10"/>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0"/>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9" name="Shape 89"/>
        <p:cNvGrpSpPr/>
        <p:nvPr/>
      </p:nvGrpSpPr>
      <p:grpSpPr>
        <a:xfrm>
          <a:off x="0" y="0"/>
          <a:ext cx="0" cy="0"/>
          <a:chOff x="0" y="0"/>
          <a:chExt cx="0" cy="0"/>
        </a:xfrm>
      </p:grpSpPr>
      <p:sp>
        <p:nvSpPr>
          <p:cNvPr id="90" name="Google Shape;90;p11"/>
          <p:cNvSpPr txBox="1"/>
          <p:nvPr>
            <p:ph type="title"/>
          </p:nvPr>
        </p:nvSpPr>
        <p:spPr>
          <a:xfrm>
            <a:off x="1482724" y="1752599"/>
            <a:ext cx="5426158"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p:nvPr>
            <p:ph idx="2" type="pic"/>
          </p:nvPr>
        </p:nvSpPr>
        <p:spPr>
          <a:xfrm>
            <a:off x="7594682" y="914400"/>
            <a:ext cx="3280974"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92" name="Google Shape;92;p11"/>
          <p:cNvSpPr txBox="1"/>
          <p:nvPr>
            <p:ph idx="1" type="body"/>
          </p:nvPr>
        </p:nvSpPr>
        <p:spPr>
          <a:xfrm>
            <a:off x="1482724" y="3124199"/>
            <a:ext cx="5426158"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3" name="Google Shape;93;p1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6" name="Shape 96"/>
        <p:cNvGrpSpPr/>
        <p:nvPr/>
      </p:nvGrpSpPr>
      <p:grpSpPr>
        <a:xfrm>
          <a:off x="0" y="0"/>
          <a:ext cx="0" cy="0"/>
          <a:chOff x="0" y="0"/>
          <a:chExt cx="0" cy="0"/>
        </a:xfrm>
      </p:grpSpPr>
      <p:sp>
        <p:nvSpPr>
          <p:cNvPr id="97" name="Google Shape;97;p12"/>
          <p:cNvSpPr txBox="1"/>
          <p:nvPr>
            <p:ph type="title"/>
          </p:nvPr>
        </p:nvSpPr>
        <p:spPr>
          <a:xfrm>
            <a:off x="1484312" y="685800"/>
            <a:ext cx="1001871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2"/>
          <p:cNvSpPr txBox="1"/>
          <p:nvPr>
            <p:ph idx="1" type="body"/>
          </p:nvPr>
        </p:nvSpPr>
        <p:spPr>
          <a:xfrm>
            <a:off x="1484312" y="4343400"/>
            <a:ext cx="1001871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99" name="Google Shape;99;p1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2" name="Shape 102"/>
        <p:cNvGrpSpPr/>
        <p:nvPr/>
      </p:nvGrpSpPr>
      <p:grpSpPr>
        <a:xfrm>
          <a:off x="0" y="0"/>
          <a:ext cx="0" cy="0"/>
          <a:chOff x="0" y="0"/>
          <a:chExt cx="0" cy="0"/>
        </a:xfrm>
      </p:grpSpPr>
      <p:sp>
        <p:nvSpPr>
          <p:cNvPr id="103" name="Google Shape;103;p13"/>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8000" u="none" cap="none" strike="noStrike">
              <a:solidFill>
                <a:schemeClr val="dk1"/>
              </a:solidFill>
              <a:latin typeface="Corbel"/>
              <a:ea typeface="Corbel"/>
              <a:cs typeface="Corbel"/>
              <a:sym typeface="Corbel"/>
            </a:endParaRPr>
          </a:p>
        </p:txBody>
      </p:sp>
      <p:sp>
        <p:nvSpPr>
          <p:cNvPr id="104" name="Google Shape;104;p13"/>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8000" u="none" cap="none" strike="noStrike">
              <a:solidFill>
                <a:schemeClr val="dk1"/>
              </a:solidFill>
              <a:latin typeface="Corbel"/>
              <a:ea typeface="Corbel"/>
              <a:cs typeface="Corbel"/>
              <a:sym typeface="Corbel"/>
            </a:endParaRPr>
          </a:p>
        </p:txBody>
      </p:sp>
      <p:sp>
        <p:nvSpPr>
          <p:cNvPr id="105" name="Google Shape;105;p13"/>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3"/>
          <p:cNvSpPr txBox="1"/>
          <p:nvPr>
            <p:ph idx="1" type="body"/>
          </p:nvPr>
        </p:nvSpPr>
        <p:spPr>
          <a:xfrm>
            <a:off x="2436811" y="3428999"/>
            <a:ext cx="8532815"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7" name="Google Shape;107;p13"/>
          <p:cNvSpPr txBox="1"/>
          <p:nvPr>
            <p:ph idx="2" type="body"/>
          </p:nvPr>
        </p:nvSpPr>
        <p:spPr>
          <a:xfrm>
            <a:off x="1484311" y="4343400"/>
            <a:ext cx="1001871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8" name="Google Shape;108;p1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3"/>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1" name="Shape 111"/>
        <p:cNvGrpSpPr/>
        <p:nvPr/>
      </p:nvGrpSpPr>
      <p:grpSpPr>
        <a:xfrm>
          <a:off x="0" y="0"/>
          <a:ext cx="0" cy="0"/>
          <a:chOff x="0" y="0"/>
          <a:chExt cx="0" cy="0"/>
        </a:xfrm>
      </p:grpSpPr>
      <p:sp>
        <p:nvSpPr>
          <p:cNvPr id="112" name="Google Shape;112;p14"/>
          <p:cNvSpPr txBox="1"/>
          <p:nvPr>
            <p:ph type="title"/>
          </p:nvPr>
        </p:nvSpPr>
        <p:spPr>
          <a:xfrm>
            <a:off x="1484313" y="3308581"/>
            <a:ext cx="1001870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4"/>
          <p:cNvSpPr txBox="1"/>
          <p:nvPr>
            <p:ph idx="1" type="body"/>
          </p:nvPr>
        </p:nvSpPr>
        <p:spPr>
          <a:xfrm>
            <a:off x="1484312" y="4777381"/>
            <a:ext cx="1001871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4" name="Google Shape;114;p1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7" name="Shape 117"/>
        <p:cNvGrpSpPr/>
        <p:nvPr/>
      </p:nvGrpSpPr>
      <p:grpSpPr>
        <a:xfrm>
          <a:off x="0" y="0"/>
          <a:ext cx="0" cy="0"/>
          <a:chOff x="0" y="0"/>
          <a:chExt cx="0" cy="0"/>
        </a:xfrm>
      </p:grpSpPr>
      <p:sp>
        <p:nvSpPr>
          <p:cNvPr id="118" name="Google Shape;118;p15"/>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8000" u="none" cap="none" strike="noStrike">
              <a:solidFill>
                <a:schemeClr val="dk1"/>
              </a:solidFill>
              <a:latin typeface="Corbel"/>
              <a:ea typeface="Corbel"/>
              <a:cs typeface="Corbel"/>
              <a:sym typeface="Corbel"/>
            </a:endParaRPr>
          </a:p>
        </p:txBody>
      </p:sp>
      <p:sp>
        <p:nvSpPr>
          <p:cNvPr id="119" name="Google Shape;119;p15"/>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8000" u="none" cap="none" strike="noStrike">
              <a:solidFill>
                <a:schemeClr val="dk1"/>
              </a:solidFill>
              <a:latin typeface="Corbel"/>
              <a:ea typeface="Corbel"/>
              <a:cs typeface="Corbel"/>
              <a:sym typeface="Corbel"/>
            </a:endParaRPr>
          </a:p>
        </p:txBody>
      </p:sp>
      <p:sp>
        <p:nvSpPr>
          <p:cNvPr id="120" name="Google Shape;120;p15"/>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5"/>
          <p:cNvSpPr txBox="1"/>
          <p:nvPr>
            <p:ph idx="1" type="body"/>
          </p:nvPr>
        </p:nvSpPr>
        <p:spPr>
          <a:xfrm>
            <a:off x="1484313" y="3886200"/>
            <a:ext cx="1001871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2" name="Google Shape;122;p15"/>
          <p:cNvSpPr txBox="1"/>
          <p:nvPr>
            <p:ph idx="2" type="body"/>
          </p:nvPr>
        </p:nvSpPr>
        <p:spPr>
          <a:xfrm>
            <a:off x="1484312" y="4775200"/>
            <a:ext cx="1001871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3" name="Google Shape;123;p1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6" name="Shape 126"/>
        <p:cNvGrpSpPr/>
        <p:nvPr/>
      </p:nvGrpSpPr>
      <p:grpSpPr>
        <a:xfrm>
          <a:off x="0" y="0"/>
          <a:ext cx="0" cy="0"/>
          <a:chOff x="0" y="0"/>
          <a:chExt cx="0" cy="0"/>
        </a:xfrm>
      </p:grpSpPr>
      <p:sp>
        <p:nvSpPr>
          <p:cNvPr id="127" name="Google Shape;127;p16"/>
          <p:cNvSpPr txBox="1"/>
          <p:nvPr>
            <p:ph type="title"/>
          </p:nvPr>
        </p:nvSpPr>
        <p:spPr>
          <a:xfrm>
            <a:off x="1484313" y="685800"/>
            <a:ext cx="10018712"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6"/>
          <p:cNvSpPr txBox="1"/>
          <p:nvPr>
            <p:ph idx="1" type="body"/>
          </p:nvPr>
        </p:nvSpPr>
        <p:spPr>
          <a:xfrm>
            <a:off x="1484312" y="3505200"/>
            <a:ext cx="1001871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9" name="Google Shape;129;p16"/>
          <p:cNvSpPr txBox="1"/>
          <p:nvPr>
            <p:ph idx="2" type="body"/>
          </p:nvPr>
        </p:nvSpPr>
        <p:spPr>
          <a:xfrm>
            <a:off x="1484311" y="4343400"/>
            <a:ext cx="1001871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0" name="Google Shape;130;p1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3" name="Shape 133"/>
        <p:cNvGrpSpPr/>
        <p:nvPr/>
      </p:nvGrpSpPr>
      <p:grpSpPr>
        <a:xfrm>
          <a:off x="0" y="0"/>
          <a:ext cx="0" cy="0"/>
          <a:chOff x="0" y="0"/>
          <a:chExt cx="0" cy="0"/>
        </a:xfrm>
      </p:grpSpPr>
      <p:sp>
        <p:nvSpPr>
          <p:cNvPr id="134" name="Google Shape;134;p1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7"/>
          <p:cNvSpPr txBox="1"/>
          <p:nvPr>
            <p:ph idx="1" type="body"/>
          </p:nvPr>
        </p:nvSpPr>
        <p:spPr>
          <a:xfrm rot="5400000">
            <a:off x="4931566" y="-780257"/>
            <a:ext cx="3124201" cy="10018713"/>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6" name="Google Shape;136;p1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9" name="Shape 139"/>
        <p:cNvGrpSpPr/>
        <p:nvPr/>
      </p:nvGrpSpPr>
      <p:grpSpPr>
        <a:xfrm>
          <a:off x="0" y="0"/>
          <a:ext cx="0" cy="0"/>
          <a:chOff x="0" y="0"/>
          <a:chExt cx="0" cy="0"/>
        </a:xfrm>
      </p:grpSpPr>
      <p:sp>
        <p:nvSpPr>
          <p:cNvPr id="140" name="Google Shape;140;p18"/>
          <p:cNvSpPr txBox="1"/>
          <p:nvPr>
            <p:ph type="title"/>
          </p:nvPr>
        </p:nvSpPr>
        <p:spPr>
          <a:xfrm rot="5400000">
            <a:off x="8065140" y="2353316"/>
            <a:ext cx="5105400" cy="177036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18"/>
          <p:cNvSpPr txBox="1"/>
          <p:nvPr>
            <p:ph idx="1" type="body"/>
          </p:nvPr>
        </p:nvSpPr>
        <p:spPr>
          <a:xfrm rot="5400000">
            <a:off x="2941483" y="-771371"/>
            <a:ext cx="5105400" cy="801974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42" name="Google Shape;142;p1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1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1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1"/>
          <p:cNvGrpSpPr/>
          <p:nvPr/>
        </p:nvGrpSpPr>
        <p:grpSpPr>
          <a:xfrm>
            <a:off x="150812" y="0"/>
            <a:ext cx="2436813" cy="6858001"/>
            <a:chOff x="1320800" y="0"/>
            <a:chExt cx="2436813" cy="6858001"/>
          </a:xfrm>
        </p:grpSpPr>
        <p:sp>
          <p:nvSpPr>
            <p:cNvPr id="11" name="Google Shape;11;p1"/>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2" name="Google Shape;12;p1"/>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13" name="Google Shape;13;p1"/>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4" name="Google Shape;14;p1"/>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5E0D0E"/>
            </a:solidFill>
            <a:ln>
              <a:noFill/>
            </a:ln>
          </p:spPr>
        </p:sp>
        <p:sp>
          <p:nvSpPr>
            <p:cNvPr id="15" name="Google Shape;15;p1"/>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8D1415"/>
            </a:solidFill>
            <a:ln>
              <a:noFill/>
            </a:ln>
          </p:spPr>
        </p:sp>
        <p:sp>
          <p:nvSpPr>
            <p:cNvPr id="16" name="Google Shape;16;p1"/>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7" name="Google Shape;17;p1"/>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1"/>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8D1415"/>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8D1415"/>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8D1415"/>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8D1415"/>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8D1415"/>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8D1415"/>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8D1415"/>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8D1415"/>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8D1415"/>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txBox="1"/>
          <p:nvPr>
            <p:ph type="ctrTitle"/>
          </p:nvPr>
        </p:nvSpPr>
        <p:spPr>
          <a:xfrm>
            <a:off x="2007100" y="266900"/>
            <a:ext cx="9896700" cy="1165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4F5B30"/>
              </a:buClr>
              <a:buSzPts val="2700"/>
              <a:buFont typeface="Times New Roman"/>
              <a:buNone/>
            </a:pPr>
            <a:r>
              <a:rPr lang="en-US" sz="3200">
                <a:solidFill>
                  <a:srgbClr val="4F5B30"/>
                </a:solidFill>
                <a:latin typeface="Times New Roman"/>
                <a:ea typeface="Times New Roman"/>
                <a:cs typeface="Times New Roman"/>
                <a:sym typeface="Times New Roman"/>
              </a:rPr>
              <a:t>REAL-TIME ENERGY CONSUMPTION MONITORING USING AI BASED NILM SYSTEM (P2123)</a:t>
            </a:r>
            <a:endParaRPr sz="3200">
              <a:solidFill>
                <a:srgbClr val="4F5B30"/>
              </a:solidFill>
              <a:latin typeface="Times New Roman"/>
              <a:ea typeface="Times New Roman"/>
              <a:cs typeface="Times New Roman"/>
              <a:sym typeface="Times New Roman"/>
            </a:endParaRPr>
          </a:p>
        </p:txBody>
      </p:sp>
      <p:sp>
        <p:nvSpPr>
          <p:cNvPr id="150" name="Google Shape;150;p19"/>
          <p:cNvSpPr txBox="1"/>
          <p:nvPr>
            <p:ph idx="1" type="subTitle"/>
          </p:nvPr>
        </p:nvSpPr>
        <p:spPr>
          <a:xfrm>
            <a:off x="2787700" y="1624075"/>
            <a:ext cx="8335500" cy="4047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480"/>
              <a:buNone/>
            </a:pPr>
            <a:r>
              <a:rPr lang="en-US" sz="2400">
                <a:solidFill>
                  <a:srgbClr val="4F5B30"/>
                </a:solidFill>
                <a:latin typeface="Times New Roman"/>
                <a:ea typeface="Times New Roman"/>
                <a:cs typeface="Times New Roman"/>
                <a:sym typeface="Times New Roman"/>
              </a:rPr>
              <a:t>Supervisor</a:t>
            </a:r>
            <a:endParaRPr sz="2400">
              <a:solidFill>
                <a:srgbClr val="4F5B30"/>
              </a:solidFill>
              <a:latin typeface="Times New Roman"/>
              <a:ea typeface="Times New Roman"/>
              <a:cs typeface="Times New Roman"/>
              <a:sym typeface="Times New Roman"/>
            </a:endParaRPr>
          </a:p>
          <a:p>
            <a:pPr indent="0" lvl="0" marL="0" rtl="0" algn="l">
              <a:lnSpc>
                <a:spcPct val="100000"/>
              </a:lnSpc>
              <a:spcBef>
                <a:spcPts val="1080"/>
              </a:spcBef>
              <a:spcAft>
                <a:spcPts val="0"/>
              </a:spcAft>
              <a:buSzPts val="3480"/>
              <a:buNone/>
            </a:pPr>
            <a:r>
              <a:rPr lang="en-US" sz="2400">
                <a:solidFill>
                  <a:srgbClr val="4F5B30"/>
                </a:solidFill>
                <a:latin typeface="Times New Roman"/>
                <a:ea typeface="Times New Roman"/>
                <a:cs typeface="Times New Roman"/>
                <a:sym typeface="Times New Roman"/>
              </a:rPr>
              <a:t>                     Engr. Umer Farooq</a:t>
            </a:r>
            <a:endParaRPr sz="2400">
              <a:solidFill>
                <a:srgbClr val="4F5B30"/>
              </a:solidFill>
              <a:latin typeface="Times New Roman"/>
              <a:ea typeface="Times New Roman"/>
              <a:cs typeface="Times New Roman"/>
              <a:sym typeface="Times New Roman"/>
            </a:endParaRPr>
          </a:p>
          <a:p>
            <a:pPr indent="0" lvl="0" marL="0" rtl="0" algn="l">
              <a:lnSpc>
                <a:spcPct val="100000"/>
              </a:lnSpc>
              <a:spcBef>
                <a:spcPts val="1080"/>
              </a:spcBef>
              <a:spcAft>
                <a:spcPts val="0"/>
              </a:spcAft>
              <a:buSzPts val="3480"/>
              <a:buNone/>
            </a:pPr>
            <a:r>
              <a:rPr lang="en-US" sz="2400">
                <a:solidFill>
                  <a:srgbClr val="4F5B30"/>
                </a:solidFill>
                <a:latin typeface="Times New Roman"/>
                <a:ea typeface="Times New Roman"/>
                <a:cs typeface="Times New Roman"/>
                <a:sym typeface="Times New Roman"/>
              </a:rPr>
              <a:t>Co-Supervisor</a:t>
            </a:r>
            <a:endParaRPr sz="2400">
              <a:solidFill>
                <a:srgbClr val="4F5B30"/>
              </a:solidFill>
              <a:latin typeface="Times New Roman"/>
              <a:ea typeface="Times New Roman"/>
              <a:cs typeface="Times New Roman"/>
              <a:sym typeface="Times New Roman"/>
            </a:endParaRPr>
          </a:p>
          <a:p>
            <a:pPr indent="0" lvl="0" marL="0" rtl="0" algn="l">
              <a:lnSpc>
                <a:spcPct val="100000"/>
              </a:lnSpc>
              <a:spcBef>
                <a:spcPts val="1080"/>
              </a:spcBef>
              <a:spcAft>
                <a:spcPts val="0"/>
              </a:spcAft>
              <a:buSzPts val="3480"/>
              <a:buNone/>
            </a:pPr>
            <a:r>
              <a:rPr lang="en-US" sz="2400">
                <a:solidFill>
                  <a:srgbClr val="4F5B30"/>
                </a:solidFill>
                <a:latin typeface="Times New Roman"/>
                <a:ea typeface="Times New Roman"/>
                <a:cs typeface="Times New Roman"/>
                <a:sym typeface="Times New Roman"/>
              </a:rPr>
              <a:t>                     Dr. Hafiz Zia Ur Rehman</a:t>
            </a:r>
            <a:endParaRPr sz="2400">
              <a:solidFill>
                <a:srgbClr val="4F5B30"/>
              </a:solidFill>
              <a:latin typeface="Times New Roman"/>
              <a:ea typeface="Times New Roman"/>
              <a:cs typeface="Times New Roman"/>
              <a:sym typeface="Times New Roman"/>
            </a:endParaRPr>
          </a:p>
          <a:p>
            <a:pPr indent="0" lvl="0" marL="0" rtl="0" algn="l">
              <a:lnSpc>
                <a:spcPct val="100000"/>
              </a:lnSpc>
              <a:spcBef>
                <a:spcPts val="1080"/>
              </a:spcBef>
              <a:spcAft>
                <a:spcPts val="0"/>
              </a:spcAft>
              <a:buSzPts val="3480"/>
              <a:buNone/>
            </a:pPr>
            <a:r>
              <a:rPr lang="en-US" sz="2400">
                <a:solidFill>
                  <a:srgbClr val="4F5B30"/>
                </a:solidFill>
                <a:latin typeface="Times New Roman"/>
                <a:ea typeface="Times New Roman"/>
                <a:cs typeface="Times New Roman"/>
                <a:sym typeface="Times New Roman"/>
              </a:rPr>
              <a:t>Members</a:t>
            </a:r>
            <a:endParaRPr sz="2400">
              <a:solidFill>
                <a:srgbClr val="4F5B30"/>
              </a:solidFill>
              <a:latin typeface="Times New Roman"/>
              <a:ea typeface="Times New Roman"/>
              <a:cs typeface="Times New Roman"/>
              <a:sym typeface="Times New Roman"/>
            </a:endParaRPr>
          </a:p>
          <a:p>
            <a:pPr indent="0" lvl="0" marL="0" rtl="0" algn="l">
              <a:lnSpc>
                <a:spcPct val="100000"/>
              </a:lnSpc>
              <a:spcBef>
                <a:spcPts val="1080"/>
              </a:spcBef>
              <a:spcAft>
                <a:spcPts val="0"/>
              </a:spcAft>
              <a:buSzPts val="3480"/>
              <a:buNone/>
            </a:pPr>
            <a:r>
              <a:rPr lang="en-US" sz="2400">
                <a:solidFill>
                  <a:srgbClr val="4F5B30"/>
                </a:solidFill>
                <a:latin typeface="Times New Roman"/>
                <a:ea typeface="Times New Roman"/>
                <a:cs typeface="Times New Roman"/>
                <a:sym typeface="Times New Roman"/>
              </a:rPr>
              <a:t>                      Muhammad Salman                  (211291)</a:t>
            </a:r>
            <a:endParaRPr sz="2400">
              <a:solidFill>
                <a:srgbClr val="4F5B30"/>
              </a:solidFill>
              <a:latin typeface="Times New Roman"/>
              <a:ea typeface="Times New Roman"/>
              <a:cs typeface="Times New Roman"/>
              <a:sym typeface="Times New Roman"/>
            </a:endParaRPr>
          </a:p>
          <a:p>
            <a:pPr indent="0" lvl="0" marL="0" rtl="0" algn="l">
              <a:lnSpc>
                <a:spcPct val="100000"/>
              </a:lnSpc>
              <a:spcBef>
                <a:spcPts val="1080"/>
              </a:spcBef>
              <a:spcAft>
                <a:spcPts val="0"/>
              </a:spcAft>
              <a:buSzPts val="3480"/>
              <a:buNone/>
            </a:pPr>
            <a:r>
              <a:rPr lang="en-US" sz="2400">
                <a:solidFill>
                  <a:srgbClr val="4F5B30"/>
                </a:solidFill>
                <a:latin typeface="Times New Roman"/>
                <a:ea typeface="Times New Roman"/>
                <a:cs typeface="Times New Roman"/>
                <a:sym typeface="Times New Roman"/>
              </a:rPr>
              <a:t>                      Muhammad Mahmood Ghauri (211265)</a:t>
            </a:r>
            <a:endParaRPr sz="2400">
              <a:solidFill>
                <a:srgbClr val="4F5B30"/>
              </a:solidFill>
              <a:latin typeface="Times New Roman"/>
              <a:ea typeface="Times New Roman"/>
              <a:cs typeface="Times New Roman"/>
              <a:sym typeface="Times New Roman"/>
            </a:endParaRPr>
          </a:p>
          <a:p>
            <a:pPr indent="0" lvl="0" marL="0" rtl="0" algn="l">
              <a:lnSpc>
                <a:spcPct val="100000"/>
              </a:lnSpc>
              <a:spcBef>
                <a:spcPts val="1080"/>
              </a:spcBef>
              <a:spcAft>
                <a:spcPts val="0"/>
              </a:spcAft>
              <a:buSzPts val="3480"/>
              <a:buNone/>
            </a:pPr>
            <a:r>
              <a:rPr lang="en-US" sz="2400">
                <a:solidFill>
                  <a:srgbClr val="4F5B30"/>
                </a:solidFill>
                <a:latin typeface="Times New Roman"/>
                <a:ea typeface="Times New Roman"/>
                <a:cs typeface="Times New Roman"/>
                <a:sym typeface="Times New Roman"/>
              </a:rPr>
              <a:t>                      Muhammad Moin Dildar          (211201)</a:t>
            </a:r>
            <a:endParaRPr sz="2400">
              <a:solidFill>
                <a:srgbClr val="4F5B30"/>
              </a:solidFill>
              <a:latin typeface="Times New Roman"/>
              <a:ea typeface="Times New Roman"/>
              <a:cs typeface="Times New Roman"/>
              <a:sym typeface="Times New Roman"/>
            </a:endParaRPr>
          </a:p>
          <a:p>
            <a:pPr indent="0" lvl="0" marL="0" rtl="0" algn="r">
              <a:lnSpc>
                <a:spcPct val="100000"/>
              </a:lnSpc>
              <a:spcBef>
                <a:spcPts val="1080"/>
              </a:spcBef>
              <a:spcAft>
                <a:spcPts val="0"/>
              </a:spcAft>
              <a:buSzPts val="3480"/>
              <a:buNone/>
            </a:pPr>
            <a:br>
              <a:rPr lang="en-US"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p:txBody>
      </p:sp>
      <p:sp>
        <p:nvSpPr>
          <p:cNvPr id="151" name="Google Shape;151;p19"/>
          <p:cNvSpPr txBox="1"/>
          <p:nvPr>
            <p:ph idx="12" type="sldNum"/>
          </p:nvPr>
        </p:nvSpPr>
        <p:spPr>
          <a:xfrm>
            <a:off x="11503031" y="6401263"/>
            <a:ext cx="551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txBox="1"/>
          <p:nvPr>
            <p:ph type="title"/>
          </p:nvPr>
        </p:nvSpPr>
        <p:spPr>
          <a:xfrm>
            <a:off x="1704656" y="332315"/>
            <a:ext cx="10018711" cy="566738"/>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4F5B30"/>
              </a:buClr>
              <a:buSzPts val="3000"/>
              <a:buFont typeface="Times New Roman"/>
              <a:buNone/>
            </a:pPr>
            <a:r>
              <a:rPr b="1" lang="en-US" sz="3000">
                <a:solidFill>
                  <a:srgbClr val="4F5B30"/>
                </a:solidFill>
                <a:latin typeface="Times New Roman"/>
                <a:ea typeface="Times New Roman"/>
                <a:cs typeface="Times New Roman"/>
                <a:sym typeface="Times New Roman"/>
              </a:rPr>
              <a:t>Introduction</a:t>
            </a:r>
            <a:endParaRPr sz="3000">
              <a:solidFill>
                <a:srgbClr val="4F5B30"/>
              </a:solidFill>
              <a:latin typeface="Times New Roman"/>
              <a:ea typeface="Times New Roman"/>
              <a:cs typeface="Times New Roman"/>
              <a:sym typeface="Times New Roman"/>
            </a:endParaRPr>
          </a:p>
        </p:txBody>
      </p:sp>
      <p:sp>
        <p:nvSpPr>
          <p:cNvPr id="157" name="Google Shape;157;p20"/>
          <p:cNvSpPr txBox="1"/>
          <p:nvPr>
            <p:ph idx="1" type="body"/>
          </p:nvPr>
        </p:nvSpPr>
        <p:spPr>
          <a:xfrm>
            <a:off x="1487170" y="1118870"/>
            <a:ext cx="5260975" cy="4845685"/>
          </a:xfrm>
          <a:prstGeom prst="rect">
            <a:avLst/>
          </a:prstGeom>
          <a:noFill/>
          <a:ln>
            <a:noFill/>
          </a:ln>
        </p:spPr>
        <p:txBody>
          <a:bodyPr anchorCtr="0" anchor="ctr" bIns="45700" lIns="91425" spcFirstLastPara="1" rIns="91425" wrap="square" tIns="45700">
            <a:noAutofit/>
          </a:bodyPr>
          <a:lstStyle/>
          <a:p>
            <a:pPr indent="0" lvl="0" marL="0" rtl="0" algn="just">
              <a:lnSpc>
                <a:spcPct val="150000"/>
              </a:lnSpc>
              <a:spcBef>
                <a:spcPts val="0"/>
              </a:spcBef>
              <a:spcAft>
                <a:spcPts val="0"/>
              </a:spcAft>
              <a:buClr>
                <a:schemeClr val="dk1"/>
              </a:buClr>
              <a:buSzPts val="3219"/>
              <a:buFont typeface="Arial"/>
              <a:buNone/>
            </a:pPr>
            <a:r>
              <a:rPr lang="en-US" sz="2400">
                <a:latin typeface="Times New Roman"/>
                <a:ea typeface="Times New Roman"/>
                <a:cs typeface="Times New Roman"/>
                <a:sym typeface="Times New Roman"/>
              </a:rPr>
              <a:t> AI-based NILM system aims to provide a real-time energy consumption monitoring solution for residential and commercial buildings. The system will utilize advanced AI algorithms and data analytics to identify and predict the energy consumption patterns of individual appliances. Covering SDG7 &amp; SDG 13.</a:t>
            </a:r>
            <a:endParaRPr sz="2400">
              <a:latin typeface="Times New Roman"/>
              <a:ea typeface="Times New Roman"/>
              <a:cs typeface="Times New Roman"/>
              <a:sym typeface="Times New Roman"/>
            </a:endParaRPr>
          </a:p>
        </p:txBody>
      </p:sp>
      <p:sp>
        <p:nvSpPr>
          <p:cNvPr id="158" name="Google Shape;158;p20"/>
          <p:cNvSpPr txBox="1"/>
          <p:nvPr>
            <p:ph idx="12" type="sldNum"/>
          </p:nvPr>
        </p:nvSpPr>
        <p:spPr>
          <a:xfrm>
            <a:off x="11064251" y="6308725"/>
            <a:ext cx="551167"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descr="Untitled" id="159" name="Google Shape;159;p20"/>
          <p:cNvPicPr preferRelativeResize="0"/>
          <p:nvPr>
            <p:ph idx="2" type="pic"/>
          </p:nvPr>
        </p:nvPicPr>
        <p:blipFill rotWithShape="1">
          <a:blip r:embed="rId3">
            <a:alphaModFix/>
          </a:blip>
          <a:srcRect b="0" l="0" r="0" t="0"/>
          <a:stretch/>
        </p:blipFill>
        <p:spPr>
          <a:xfrm>
            <a:off x="7247890" y="3572510"/>
            <a:ext cx="4492625" cy="2440940"/>
          </a:xfrm>
          <a:prstGeom prst="rect">
            <a:avLst/>
          </a:prstGeom>
          <a:noFill/>
          <a:ln cap="flat" cmpd="sng" w="38100">
            <a:solidFill>
              <a:schemeClr val="lt2"/>
            </a:solidFill>
            <a:prstDash val="solid"/>
            <a:round/>
            <a:headEnd len="sm" w="sm" type="none"/>
            <a:tailEnd len="sm" w="sm" type="none"/>
          </a:ln>
        </p:spPr>
      </p:pic>
      <p:pic>
        <p:nvPicPr>
          <p:cNvPr descr="Sense" id="160" name="Google Shape;160;p20"/>
          <p:cNvPicPr preferRelativeResize="0"/>
          <p:nvPr/>
        </p:nvPicPr>
        <p:blipFill rotWithShape="1">
          <a:blip r:embed="rId4">
            <a:alphaModFix/>
          </a:blip>
          <a:srcRect b="0" l="0" r="0" t="0"/>
          <a:stretch/>
        </p:blipFill>
        <p:spPr>
          <a:xfrm>
            <a:off x="7247890" y="934720"/>
            <a:ext cx="4459605" cy="2637790"/>
          </a:xfrm>
          <a:prstGeom prst="rect">
            <a:avLst/>
          </a:prstGeom>
          <a:noFill/>
          <a:ln>
            <a:noFill/>
          </a:ln>
        </p:spPr>
      </p:pic>
      <p:sp>
        <p:nvSpPr>
          <p:cNvPr id="161" name="Google Shape;161;p20"/>
          <p:cNvSpPr txBox="1"/>
          <p:nvPr/>
        </p:nvSpPr>
        <p:spPr>
          <a:xfrm>
            <a:off x="3748405" y="6452870"/>
            <a:ext cx="4695190" cy="2298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(Department of Mechatronic &amp; Biomedical Engineering, AIR University, Pakistan)</a:t>
            </a:r>
            <a:endParaRPr b="0" i="0" sz="900" u="none" cap="none" strike="noStrike">
              <a:solidFill>
                <a:srgbClr val="000000"/>
              </a:solidFill>
              <a:latin typeface="Arial"/>
              <a:ea typeface="Arial"/>
              <a:cs typeface="Arial"/>
              <a:sym typeface="Arial"/>
            </a:endParaRPr>
          </a:p>
        </p:txBody>
      </p:sp>
      <p:sp>
        <p:nvSpPr>
          <p:cNvPr id="162" name="Google Shape;162;p20"/>
          <p:cNvSpPr txBox="1"/>
          <p:nvPr/>
        </p:nvSpPr>
        <p:spPr>
          <a:xfrm>
            <a:off x="366395" y="6381115"/>
            <a:ext cx="548640" cy="2298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P2123</a:t>
            </a:r>
            <a:endParaRPr b="0" i="0" sz="900" u="none" cap="none" strike="noStrike">
              <a:solidFill>
                <a:srgbClr val="000000"/>
              </a:solidFill>
              <a:latin typeface="Arial"/>
              <a:ea typeface="Arial"/>
              <a:cs typeface="Arial"/>
              <a:sym typeface="Arial"/>
            </a:endParaRPr>
          </a:p>
        </p:txBody>
      </p:sp>
      <p:pic>
        <p:nvPicPr>
          <p:cNvPr id="163" name="Google Shape;163;p20"/>
          <p:cNvPicPr preferRelativeResize="0"/>
          <p:nvPr/>
        </p:nvPicPr>
        <p:blipFill rotWithShape="1">
          <a:blip r:embed="rId5">
            <a:alphaModFix/>
          </a:blip>
          <a:srcRect b="0" l="0" r="0" t="0"/>
          <a:stretch/>
        </p:blipFill>
        <p:spPr>
          <a:xfrm>
            <a:off x="0" y="0"/>
            <a:ext cx="890905" cy="8775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
                                        </p:tgtEl>
                                        <p:attrNameLst>
                                          <p:attrName>style.visibility</p:attrName>
                                        </p:attrNameLst>
                                      </p:cBhvr>
                                      <p:to>
                                        <p:strVal val="visible"/>
                                      </p:to>
                                    </p:set>
                                    <p:anim calcmode="lin" valueType="num">
                                      <p:cBhvr additive="base">
                                        <p:cTn dur="500"/>
                                        <p:tgtEl>
                                          <p:spTgt spid="1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500"/>
                                        <p:tgtEl>
                                          <p:spTgt spid="15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ph type="title"/>
          </p:nvPr>
        </p:nvSpPr>
        <p:spPr>
          <a:xfrm>
            <a:off x="1484300" y="229400"/>
            <a:ext cx="10018800" cy="866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4F5B30"/>
              </a:buClr>
              <a:buSzPts val="3200"/>
              <a:buFont typeface="Times New Roman"/>
              <a:buNone/>
            </a:pPr>
            <a:r>
              <a:rPr b="1" lang="en-US" sz="3000">
                <a:solidFill>
                  <a:srgbClr val="4F5B30"/>
                </a:solidFill>
                <a:latin typeface="Times New Roman"/>
                <a:ea typeface="Times New Roman"/>
                <a:cs typeface="Times New Roman"/>
                <a:sym typeface="Times New Roman"/>
              </a:rPr>
              <a:t>Literature Review</a:t>
            </a:r>
            <a:endParaRPr sz="3000">
              <a:solidFill>
                <a:srgbClr val="4F5B30"/>
              </a:solidFill>
              <a:latin typeface="Times New Roman"/>
              <a:ea typeface="Times New Roman"/>
              <a:cs typeface="Times New Roman"/>
              <a:sym typeface="Times New Roman"/>
            </a:endParaRPr>
          </a:p>
        </p:txBody>
      </p:sp>
      <p:graphicFrame>
        <p:nvGraphicFramePr>
          <p:cNvPr id="169" name="Google Shape;169;p21"/>
          <p:cNvGraphicFramePr/>
          <p:nvPr/>
        </p:nvGraphicFramePr>
        <p:xfrm>
          <a:off x="1755327" y="1095497"/>
          <a:ext cx="3000000" cy="3000000"/>
        </p:xfrm>
        <a:graphic>
          <a:graphicData uri="http://schemas.openxmlformats.org/drawingml/2006/table">
            <a:tbl>
              <a:tblPr>
                <a:noFill/>
                <a:tableStyleId>{EC6AD8B8-187C-49E5-94B0-8BA135967B80}</a:tableStyleId>
              </a:tblPr>
              <a:tblGrid>
                <a:gridCol w="1853350"/>
                <a:gridCol w="2740650"/>
                <a:gridCol w="2563075"/>
                <a:gridCol w="3013050"/>
              </a:tblGrid>
              <a:tr h="383375">
                <a:tc>
                  <a:txBody>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References</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Method</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Focus</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Key Takeaway</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50050">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Merri et al. (2023)</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Embedded Deep Learning (CNN) for NILM</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Year-long field study in real houses</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Edge processing for NILM with promising results for widespread adoption</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543775">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M.I.Azad et al. (2023) </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Deep Learning for NILM</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NILM accuracy and challenges</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Importance of considering real-time load variations and new appliance identification.</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749275">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 C. L. Athanasiadis et al.(2021)</a:t>
                      </a:r>
                      <a:endParaRPr sz="22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2200"/>
                        <a:buFont typeface="Arial"/>
                        <a:buNone/>
                      </a:pPr>
                      <a:br>
                        <a:rPr lang="en-US" sz="2200" u="none" cap="none" strike="noStrike">
                          <a:latin typeface="Times New Roman"/>
                          <a:ea typeface="Times New Roman"/>
                          <a:cs typeface="Times New Roman"/>
                          <a:sym typeface="Times New Roman"/>
                        </a:rPr>
                      </a:b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Times New Roman"/>
                          <a:ea typeface="Times New Roman"/>
                          <a:cs typeface="Times New Roman"/>
                          <a:sym typeface="Times New Roman"/>
                        </a:rPr>
                        <a:t>Convolutional neural network (CNN)</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Real-time NILM with high accuracy</a:t>
                      </a:r>
                      <a:endParaRPr sz="22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2200"/>
                        <a:buFont typeface="Arial"/>
                        <a:buNone/>
                      </a:pPr>
                      <a:br>
                        <a:rPr lang="en-US" sz="2200" u="none" cap="none" strike="noStrike">
                          <a:latin typeface="Times New Roman"/>
                          <a:ea typeface="Times New Roman"/>
                          <a:cs typeface="Times New Roman"/>
                          <a:sym typeface="Times New Roman"/>
                        </a:rPr>
                      </a:b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Lightweight and scalable architecture achieves over 99% accuracy.</a:t>
                      </a:r>
                      <a:endParaRPr sz="2200" u="none" cap="none" strike="noStrike">
                        <a:latin typeface="Times New Roman"/>
                        <a:ea typeface="Times New Roman"/>
                        <a:cs typeface="Times New Roman"/>
                        <a:sym typeface="Times New Roman"/>
                      </a:endParaRPr>
                    </a:p>
                  </a:txBody>
                  <a:tcPr marT="41025" marB="41025" marR="41025" marL="410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70" name="Google Shape;170;p21"/>
          <p:cNvSpPr/>
          <p:nvPr/>
        </p:nvSpPr>
        <p:spPr>
          <a:xfrm>
            <a:off x="-8657675" y="0"/>
            <a:ext cx="30327111"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71" name="Google Shape;171;p21"/>
          <p:cNvSpPr txBox="1"/>
          <p:nvPr>
            <p:ph idx="12" type="sldNum"/>
          </p:nvPr>
        </p:nvSpPr>
        <p:spPr>
          <a:xfrm>
            <a:off x="11503031" y="6385131"/>
            <a:ext cx="551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500"/>
                                        <p:tgtEl>
                                          <p:spTgt spid="16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ph type="title"/>
          </p:nvPr>
        </p:nvSpPr>
        <p:spPr>
          <a:xfrm>
            <a:off x="1484300" y="61225"/>
            <a:ext cx="10018800" cy="914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4F5B30"/>
              </a:buClr>
              <a:buSzPts val="3200"/>
              <a:buFont typeface="Times New Roman"/>
              <a:buNone/>
            </a:pPr>
            <a:r>
              <a:rPr b="1" lang="en-US" sz="3000">
                <a:solidFill>
                  <a:srgbClr val="4F5B30"/>
                </a:solidFill>
                <a:latin typeface="Times New Roman"/>
                <a:ea typeface="Times New Roman"/>
                <a:cs typeface="Times New Roman"/>
                <a:sym typeface="Times New Roman"/>
              </a:rPr>
              <a:t>Problem Statement</a:t>
            </a:r>
            <a:endParaRPr sz="3000">
              <a:solidFill>
                <a:srgbClr val="4F5B30"/>
              </a:solidFill>
              <a:latin typeface="Times New Roman"/>
              <a:ea typeface="Times New Roman"/>
              <a:cs typeface="Times New Roman"/>
              <a:sym typeface="Times New Roman"/>
            </a:endParaRPr>
          </a:p>
        </p:txBody>
      </p:sp>
      <p:sp>
        <p:nvSpPr>
          <p:cNvPr id="177" name="Google Shape;177;p22"/>
          <p:cNvSpPr txBox="1"/>
          <p:nvPr>
            <p:ph idx="1" type="body"/>
          </p:nvPr>
        </p:nvSpPr>
        <p:spPr>
          <a:xfrm>
            <a:off x="1736525" y="843525"/>
            <a:ext cx="10018800" cy="2348100"/>
          </a:xfrm>
          <a:prstGeom prst="rect">
            <a:avLst/>
          </a:prstGeom>
          <a:noFill/>
          <a:ln>
            <a:noFill/>
          </a:ln>
        </p:spPr>
        <p:txBody>
          <a:bodyPr anchorCtr="0" anchor="ctr" bIns="45700" lIns="91425" spcFirstLastPara="1" rIns="91425" wrap="square" tIns="45700">
            <a:normAutofit/>
          </a:bodyPr>
          <a:lstStyle/>
          <a:p>
            <a:pPr indent="0" lvl="0" marL="0" rtl="0" algn="just">
              <a:lnSpc>
                <a:spcPct val="150000"/>
              </a:lnSpc>
              <a:spcBef>
                <a:spcPts val="0"/>
              </a:spcBef>
              <a:spcAft>
                <a:spcPts val="0"/>
              </a:spcAft>
              <a:buSzPts val="3480"/>
              <a:buNone/>
            </a:pPr>
            <a:r>
              <a:rPr lang="en-US" sz="2200">
                <a:latin typeface="Times New Roman"/>
                <a:ea typeface="Times New Roman"/>
                <a:cs typeface="Times New Roman"/>
                <a:sym typeface="Times New Roman"/>
              </a:rPr>
              <a:t>Current energy management lacks real-time monitoring of Individual Appliances, resulting in inefficiencies. This project aims to implement an AI-based NILM system for real-time energy consumption monitoring of Individual Appliances, promoting efficiency and sustainability.</a:t>
            </a:r>
            <a:endParaRPr sz="2200">
              <a:latin typeface="Times New Roman"/>
              <a:ea typeface="Times New Roman"/>
              <a:cs typeface="Times New Roman"/>
              <a:sym typeface="Times New Roman"/>
            </a:endParaRPr>
          </a:p>
        </p:txBody>
      </p:sp>
      <p:sp>
        <p:nvSpPr>
          <p:cNvPr id="178" name="Google Shape;178;p22"/>
          <p:cNvSpPr txBox="1"/>
          <p:nvPr/>
        </p:nvSpPr>
        <p:spPr>
          <a:xfrm>
            <a:off x="5454195" y="2983655"/>
            <a:ext cx="2079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4F5B30"/>
                </a:solidFill>
                <a:latin typeface="Times New Roman"/>
                <a:ea typeface="Times New Roman"/>
                <a:cs typeface="Times New Roman"/>
                <a:sym typeface="Times New Roman"/>
              </a:rPr>
              <a:t>Objectives</a:t>
            </a:r>
            <a:endParaRPr b="0" i="0" sz="3000" u="none" cap="none" strike="noStrike">
              <a:solidFill>
                <a:srgbClr val="4F5B30"/>
              </a:solidFill>
              <a:latin typeface="Times New Roman"/>
              <a:ea typeface="Times New Roman"/>
              <a:cs typeface="Times New Roman"/>
              <a:sym typeface="Times New Roman"/>
            </a:endParaRPr>
          </a:p>
        </p:txBody>
      </p:sp>
      <p:sp>
        <p:nvSpPr>
          <p:cNvPr id="179" name="Google Shape;179;p22"/>
          <p:cNvSpPr txBox="1"/>
          <p:nvPr/>
        </p:nvSpPr>
        <p:spPr>
          <a:xfrm>
            <a:off x="1578200" y="3796626"/>
            <a:ext cx="10018800" cy="2628900"/>
          </a:xfrm>
          <a:prstGeom prst="rect">
            <a:avLst/>
          </a:prstGeom>
          <a:noFill/>
          <a:ln>
            <a:noFill/>
          </a:ln>
        </p:spPr>
        <p:txBody>
          <a:bodyPr anchorCtr="0" anchor="t" bIns="45700" lIns="91425" spcFirstLastPara="1" rIns="91425" wrap="square" tIns="45700">
            <a:spAutoFit/>
          </a:bodyPr>
          <a:lstStyle/>
          <a:p>
            <a:pPr indent="-330200" lvl="0" marL="342900" marR="0" rtl="0" algn="l">
              <a:lnSpc>
                <a:spcPct val="15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Identifying the energy consumption of individual device from the selected group of daily use household appliances.</a:t>
            </a:r>
            <a:endParaRPr b="0" i="0" sz="2200" u="none" cap="none" strike="noStrike">
              <a:solidFill>
                <a:srgbClr val="000000"/>
              </a:solidFill>
              <a:latin typeface="Times New Roman"/>
              <a:ea typeface="Times New Roman"/>
              <a:cs typeface="Times New Roman"/>
              <a:sym typeface="Times New Roman"/>
            </a:endParaRPr>
          </a:p>
          <a:p>
            <a:pPr indent="-273050" lvl="0" marL="285750" marR="0" rtl="0" algn="l">
              <a:lnSpc>
                <a:spcPct val="15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Real time data collection ( stored on server) and analyze to predict the possible power consumption  by a specific appliance.</a:t>
            </a:r>
            <a:endParaRPr b="0" i="0" sz="2200" u="none" cap="none" strike="noStrike">
              <a:solidFill>
                <a:srgbClr val="000000"/>
              </a:solidFill>
              <a:latin typeface="Times New Roman"/>
              <a:ea typeface="Times New Roman"/>
              <a:cs typeface="Times New Roman"/>
              <a:sym typeface="Times New Roman"/>
            </a:endParaRPr>
          </a:p>
          <a:p>
            <a:pPr indent="-273050" lvl="0" marL="285750" marR="0" rtl="0" algn="l">
              <a:lnSpc>
                <a:spcPct val="15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Implementing AI algorithm in Microcontroller.</a:t>
            </a:r>
            <a:endParaRPr b="0" i="0" sz="1800" u="none" cap="none" strike="noStrike">
              <a:solidFill>
                <a:schemeClr val="dk1"/>
              </a:solidFill>
              <a:latin typeface="Corbel"/>
              <a:ea typeface="Corbel"/>
              <a:cs typeface="Corbel"/>
              <a:sym typeface="Corbel"/>
            </a:endParaRPr>
          </a:p>
        </p:txBody>
      </p:sp>
      <p:sp>
        <p:nvSpPr>
          <p:cNvPr id="180" name="Google Shape;180;p22"/>
          <p:cNvSpPr txBox="1"/>
          <p:nvPr>
            <p:ph idx="12" type="sldNum"/>
          </p:nvPr>
        </p:nvSpPr>
        <p:spPr>
          <a:xfrm>
            <a:off x="11503031" y="6385131"/>
            <a:ext cx="551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anim calcmode="lin" valueType="num">
                                      <p:cBhvr additive="base">
                                        <p:cTn dur="500"/>
                                        <p:tgtEl>
                                          <p:spTgt spid="1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500"/>
                                        <p:tgtEl>
                                          <p:spTgt spid="1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9"/>
                                        </p:tgtEl>
                                        <p:attrNameLst>
                                          <p:attrName>style.visibility</p:attrName>
                                        </p:attrNameLst>
                                      </p:cBhvr>
                                      <p:to>
                                        <p:strVal val="visible"/>
                                      </p:to>
                                    </p:set>
                                    <p:anim calcmode="lin" valueType="num">
                                      <p:cBhvr additive="base">
                                        <p:cTn dur="500"/>
                                        <p:tgtEl>
                                          <p:spTgt spid="1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1484300" y="170825"/>
            <a:ext cx="10018800" cy="1008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4F5B30"/>
              </a:buClr>
              <a:buSzPts val="3200"/>
              <a:buFont typeface="Times New Roman"/>
              <a:buNone/>
            </a:pPr>
            <a:r>
              <a:rPr b="1" lang="en-US" sz="3000">
                <a:solidFill>
                  <a:srgbClr val="4F5B30"/>
                </a:solidFill>
                <a:latin typeface="Times New Roman"/>
                <a:ea typeface="Times New Roman"/>
                <a:cs typeface="Times New Roman"/>
                <a:sym typeface="Times New Roman"/>
              </a:rPr>
              <a:t>Methodology</a:t>
            </a:r>
            <a:endParaRPr sz="3000">
              <a:solidFill>
                <a:srgbClr val="4F5B30"/>
              </a:solidFill>
              <a:latin typeface="Times New Roman"/>
              <a:ea typeface="Times New Roman"/>
              <a:cs typeface="Times New Roman"/>
              <a:sym typeface="Times New Roman"/>
            </a:endParaRPr>
          </a:p>
        </p:txBody>
      </p:sp>
      <p:pic>
        <p:nvPicPr>
          <p:cNvPr descr="https://lh7-us.googleusercontent.com/zgEhNoXGhgwzwRkrIIYM26N5X3TP4Bfs9zQu7ixUO0bY9SWbkq7O1ur42fz-wvewNds0afmitdxhCGbWJHl_1Qn3qNTYrK6QWJfVCDmq5zUPBJvHKEcZwGL-QdGNw_zJuoTW0bq1vzgCoguP6MdOXMqksA=s2048" id="186" name="Google Shape;186;p23"/>
          <p:cNvPicPr preferRelativeResize="0"/>
          <p:nvPr>
            <p:ph idx="1" type="body"/>
          </p:nvPr>
        </p:nvPicPr>
        <p:blipFill rotWithShape="1">
          <a:blip r:embed="rId3">
            <a:alphaModFix/>
          </a:blip>
          <a:srcRect b="0" l="0" r="0" t="0"/>
          <a:stretch/>
        </p:blipFill>
        <p:spPr>
          <a:xfrm>
            <a:off x="0" y="1755425"/>
            <a:ext cx="5564100" cy="3784500"/>
          </a:xfrm>
          <a:prstGeom prst="rect">
            <a:avLst/>
          </a:prstGeom>
          <a:noFill/>
          <a:ln>
            <a:noFill/>
          </a:ln>
        </p:spPr>
      </p:pic>
      <p:sp>
        <p:nvSpPr>
          <p:cNvPr id="187" name="Google Shape;187;p23"/>
          <p:cNvSpPr txBox="1"/>
          <p:nvPr>
            <p:ph idx="12" type="sldNum"/>
          </p:nvPr>
        </p:nvSpPr>
        <p:spPr>
          <a:xfrm>
            <a:off x="11503031" y="6401263"/>
            <a:ext cx="551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88" name="Google Shape;188;p23"/>
          <p:cNvPicPr preferRelativeResize="0"/>
          <p:nvPr/>
        </p:nvPicPr>
        <p:blipFill>
          <a:blip r:embed="rId4">
            <a:alphaModFix/>
          </a:blip>
          <a:stretch>
            <a:fillRect/>
          </a:stretch>
        </p:blipFill>
        <p:spPr>
          <a:xfrm>
            <a:off x="5564100" y="1755425"/>
            <a:ext cx="6627901" cy="3784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4"/>
          <p:cNvSpPr txBox="1"/>
          <p:nvPr>
            <p:ph type="title"/>
          </p:nvPr>
        </p:nvSpPr>
        <p:spPr>
          <a:xfrm>
            <a:off x="1484300" y="114700"/>
            <a:ext cx="10018800" cy="1125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4F5B30"/>
              </a:buClr>
              <a:buSzPts val="3200"/>
              <a:buFont typeface="Times New Roman"/>
              <a:buNone/>
            </a:pPr>
            <a:r>
              <a:rPr b="1" lang="en-US" sz="3000">
                <a:solidFill>
                  <a:srgbClr val="4F5B30"/>
                </a:solidFill>
                <a:latin typeface="Times New Roman"/>
                <a:ea typeface="Times New Roman"/>
                <a:cs typeface="Times New Roman"/>
                <a:sym typeface="Times New Roman"/>
              </a:rPr>
              <a:t>Product Specifications, Preliminary Design and Calculations</a:t>
            </a:r>
            <a:endParaRPr sz="3000">
              <a:latin typeface="Times New Roman"/>
              <a:ea typeface="Times New Roman"/>
              <a:cs typeface="Times New Roman"/>
              <a:sym typeface="Times New Roman"/>
            </a:endParaRPr>
          </a:p>
        </p:txBody>
      </p:sp>
      <p:sp>
        <p:nvSpPr>
          <p:cNvPr id="194" name="Google Shape;194;p24"/>
          <p:cNvSpPr txBox="1"/>
          <p:nvPr>
            <p:ph idx="1" type="body"/>
          </p:nvPr>
        </p:nvSpPr>
        <p:spPr>
          <a:xfrm>
            <a:off x="1484300" y="1431925"/>
            <a:ext cx="10018800" cy="4359300"/>
          </a:xfrm>
          <a:prstGeom prst="rect">
            <a:avLst/>
          </a:prstGeom>
          <a:noFill/>
          <a:ln>
            <a:noFill/>
          </a:ln>
        </p:spPr>
        <p:txBody>
          <a:bodyPr anchorCtr="0" anchor="ctr" bIns="45700" lIns="91425" spcFirstLastPara="1" rIns="91425" wrap="square" tIns="45700">
            <a:normAutofit fontScale="40000" lnSpcReduction="20000"/>
          </a:bodyPr>
          <a:lstStyle/>
          <a:p>
            <a:pPr indent="-217170" lvl="0" marL="285750" rtl="0" algn="just">
              <a:lnSpc>
                <a:spcPct val="100000"/>
              </a:lnSpc>
              <a:spcBef>
                <a:spcPts val="0"/>
              </a:spcBef>
              <a:spcAft>
                <a:spcPts val="0"/>
              </a:spcAft>
              <a:buSzPct val="100000"/>
              <a:buFont typeface="Times New Roman"/>
              <a:buChar char="•"/>
            </a:pPr>
            <a:r>
              <a:rPr lang="en-US" sz="6000">
                <a:latin typeface="Times New Roman"/>
                <a:ea typeface="Times New Roman"/>
                <a:cs typeface="Times New Roman"/>
                <a:sym typeface="Times New Roman"/>
              </a:rPr>
              <a:t>Real-Time Monitoring</a:t>
            </a:r>
            <a:endParaRPr sz="6000">
              <a:latin typeface="Times New Roman"/>
              <a:ea typeface="Times New Roman"/>
              <a:cs typeface="Times New Roman"/>
              <a:sym typeface="Times New Roman"/>
            </a:endParaRPr>
          </a:p>
          <a:p>
            <a:pPr indent="-217170" lvl="0" marL="285750" rtl="0" algn="just">
              <a:lnSpc>
                <a:spcPct val="100000"/>
              </a:lnSpc>
              <a:spcBef>
                <a:spcPts val="1080"/>
              </a:spcBef>
              <a:spcAft>
                <a:spcPts val="0"/>
              </a:spcAft>
              <a:buSzPct val="100000"/>
              <a:buFont typeface="Times New Roman"/>
              <a:buChar char="•"/>
            </a:pPr>
            <a:r>
              <a:rPr lang="en-US" sz="6000">
                <a:latin typeface="Times New Roman"/>
                <a:ea typeface="Times New Roman"/>
                <a:cs typeface="Times New Roman"/>
                <a:sym typeface="Times New Roman"/>
              </a:rPr>
              <a:t>Non-Intrusive Operation</a:t>
            </a:r>
            <a:endParaRPr sz="6000">
              <a:latin typeface="Times New Roman"/>
              <a:ea typeface="Times New Roman"/>
              <a:cs typeface="Times New Roman"/>
              <a:sym typeface="Times New Roman"/>
            </a:endParaRPr>
          </a:p>
          <a:p>
            <a:pPr indent="-217170" lvl="0" marL="285750" rtl="0" algn="just">
              <a:lnSpc>
                <a:spcPct val="100000"/>
              </a:lnSpc>
              <a:spcBef>
                <a:spcPts val="1080"/>
              </a:spcBef>
              <a:spcAft>
                <a:spcPts val="0"/>
              </a:spcAft>
              <a:buSzPct val="100000"/>
              <a:buFont typeface="Times New Roman"/>
              <a:buChar char="•"/>
            </a:pPr>
            <a:r>
              <a:rPr lang="en-US" sz="6000">
                <a:latin typeface="Times New Roman"/>
                <a:ea typeface="Times New Roman"/>
                <a:cs typeface="Times New Roman"/>
                <a:sym typeface="Times New Roman"/>
              </a:rPr>
              <a:t>AI Integration</a:t>
            </a:r>
            <a:endParaRPr sz="6000">
              <a:latin typeface="Times New Roman"/>
              <a:ea typeface="Times New Roman"/>
              <a:cs typeface="Times New Roman"/>
              <a:sym typeface="Times New Roman"/>
            </a:endParaRPr>
          </a:p>
          <a:p>
            <a:pPr indent="-217170" lvl="0" marL="285750" rtl="0" algn="just">
              <a:lnSpc>
                <a:spcPct val="100000"/>
              </a:lnSpc>
              <a:spcBef>
                <a:spcPts val="1080"/>
              </a:spcBef>
              <a:spcAft>
                <a:spcPts val="0"/>
              </a:spcAft>
              <a:buSzPct val="100000"/>
              <a:buFont typeface="Times New Roman"/>
              <a:buChar char="•"/>
            </a:pPr>
            <a:r>
              <a:rPr lang="en-US" sz="6000">
                <a:latin typeface="Times New Roman"/>
                <a:ea typeface="Times New Roman"/>
                <a:cs typeface="Times New Roman"/>
                <a:sym typeface="Times New Roman"/>
              </a:rPr>
              <a:t>User-Friendly Interface</a:t>
            </a:r>
            <a:endParaRPr sz="6000">
              <a:latin typeface="Times New Roman"/>
              <a:ea typeface="Times New Roman"/>
              <a:cs typeface="Times New Roman"/>
              <a:sym typeface="Times New Roman"/>
            </a:endParaRPr>
          </a:p>
          <a:p>
            <a:pPr indent="-217170" lvl="0" marL="285750" rtl="0" algn="just">
              <a:lnSpc>
                <a:spcPct val="100000"/>
              </a:lnSpc>
              <a:spcBef>
                <a:spcPts val="1080"/>
              </a:spcBef>
              <a:spcAft>
                <a:spcPts val="0"/>
              </a:spcAft>
              <a:buSzPct val="100000"/>
              <a:buFont typeface="Times New Roman"/>
              <a:buChar char="•"/>
            </a:pPr>
            <a:r>
              <a:rPr lang="en-US" sz="6000">
                <a:latin typeface="Times New Roman"/>
                <a:ea typeface="Times New Roman"/>
                <a:cs typeface="Times New Roman"/>
                <a:sym typeface="Times New Roman"/>
              </a:rPr>
              <a:t>Environmental Sustainability</a:t>
            </a:r>
            <a:endParaRPr sz="6000">
              <a:latin typeface="Times New Roman"/>
              <a:ea typeface="Times New Roman"/>
              <a:cs typeface="Times New Roman"/>
              <a:sym typeface="Times New Roman"/>
            </a:endParaRPr>
          </a:p>
          <a:p>
            <a:pPr indent="-217170" lvl="0" marL="285750" rtl="0" algn="just">
              <a:lnSpc>
                <a:spcPct val="100000"/>
              </a:lnSpc>
              <a:spcBef>
                <a:spcPts val="1080"/>
              </a:spcBef>
              <a:spcAft>
                <a:spcPts val="0"/>
              </a:spcAft>
              <a:buSzPct val="100000"/>
              <a:buFont typeface="Times New Roman"/>
              <a:buChar char="•"/>
            </a:pPr>
            <a:r>
              <a:rPr lang="en-US" sz="6000">
                <a:latin typeface="Times New Roman"/>
                <a:ea typeface="Times New Roman"/>
                <a:cs typeface="Times New Roman"/>
                <a:sym typeface="Times New Roman"/>
              </a:rPr>
              <a:t>Single Phase Meter</a:t>
            </a:r>
            <a:endParaRPr sz="6000">
              <a:latin typeface="Times New Roman"/>
              <a:ea typeface="Times New Roman"/>
              <a:cs typeface="Times New Roman"/>
              <a:sym typeface="Times New Roman"/>
            </a:endParaRPr>
          </a:p>
          <a:p>
            <a:pPr indent="-217170" lvl="0" marL="285750" rtl="0" algn="just">
              <a:lnSpc>
                <a:spcPct val="100000"/>
              </a:lnSpc>
              <a:spcBef>
                <a:spcPts val="1080"/>
              </a:spcBef>
              <a:spcAft>
                <a:spcPts val="0"/>
              </a:spcAft>
              <a:buSzPct val="100000"/>
              <a:buFont typeface="Times New Roman"/>
              <a:buChar char="•"/>
            </a:pPr>
            <a:r>
              <a:rPr lang="en-US" sz="6000">
                <a:latin typeface="Times New Roman"/>
                <a:ea typeface="Times New Roman"/>
                <a:cs typeface="Times New Roman"/>
                <a:sym typeface="Times New Roman"/>
              </a:rPr>
              <a:t>Voltage (RMS) = 140 to 300 V </a:t>
            </a:r>
            <a:endParaRPr sz="6000">
              <a:latin typeface="Times New Roman"/>
              <a:ea typeface="Times New Roman"/>
              <a:cs typeface="Times New Roman"/>
              <a:sym typeface="Times New Roman"/>
            </a:endParaRPr>
          </a:p>
          <a:p>
            <a:pPr indent="-217170" lvl="0" marL="285750" rtl="0" algn="just">
              <a:lnSpc>
                <a:spcPct val="100000"/>
              </a:lnSpc>
              <a:spcBef>
                <a:spcPts val="1080"/>
              </a:spcBef>
              <a:spcAft>
                <a:spcPts val="0"/>
              </a:spcAft>
              <a:buSzPct val="100000"/>
              <a:buFont typeface="Times New Roman"/>
              <a:buChar char="•"/>
            </a:pPr>
            <a:r>
              <a:rPr lang="en-US" sz="6000">
                <a:latin typeface="Times New Roman"/>
                <a:ea typeface="Times New Roman"/>
                <a:cs typeface="Times New Roman"/>
                <a:sym typeface="Times New Roman"/>
              </a:rPr>
              <a:t>I/I</a:t>
            </a:r>
            <a:r>
              <a:rPr baseline="-25000" lang="en-US" sz="6000">
                <a:latin typeface="Times New Roman"/>
                <a:ea typeface="Times New Roman"/>
                <a:cs typeface="Times New Roman"/>
                <a:sym typeface="Times New Roman"/>
              </a:rPr>
              <a:t>max</a:t>
            </a:r>
            <a:r>
              <a:rPr lang="en-US" sz="6000">
                <a:latin typeface="Times New Roman"/>
                <a:ea typeface="Times New Roman"/>
                <a:cs typeface="Times New Roman"/>
                <a:sym typeface="Times New Roman"/>
              </a:rPr>
              <a:t>(RMS) =  5/100 A</a:t>
            </a:r>
            <a:endParaRPr sz="6000">
              <a:latin typeface="Times New Roman"/>
              <a:ea typeface="Times New Roman"/>
              <a:cs typeface="Times New Roman"/>
              <a:sym typeface="Times New Roman"/>
            </a:endParaRPr>
          </a:p>
          <a:p>
            <a:pPr indent="-217170" lvl="0" marL="285750" rtl="0" algn="just">
              <a:lnSpc>
                <a:spcPct val="100000"/>
              </a:lnSpc>
              <a:spcBef>
                <a:spcPts val="1080"/>
              </a:spcBef>
              <a:spcAft>
                <a:spcPts val="0"/>
              </a:spcAft>
              <a:buSzPct val="100000"/>
              <a:buFont typeface="Times New Roman"/>
              <a:buChar char="•"/>
            </a:pPr>
            <a:r>
              <a:rPr lang="en-US" sz="6000">
                <a:latin typeface="Times New Roman"/>
                <a:ea typeface="Times New Roman"/>
                <a:cs typeface="Times New Roman"/>
                <a:sym typeface="Times New Roman"/>
              </a:rPr>
              <a:t>Input Frequency = 50/60 Hz</a:t>
            </a:r>
            <a:endParaRPr sz="6000">
              <a:latin typeface="Times New Roman"/>
              <a:ea typeface="Times New Roman"/>
              <a:cs typeface="Times New Roman"/>
              <a:sym typeface="Times New Roman"/>
            </a:endParaRPr>
          </a:p>
          <a:p>
            <a:pPr indent="-64770" lvl="0" marL="285750" rtl="0" algn="l">
              <a:lnSpc>
                <a:spcPct val="100000"/>
              </a:lnSpc>
              <a:spcBef>
                <a:spcPts val="1080"/>
              </a:spcBef>
              <a:spcAft>
                <a:spcPts val="0"/>
              </a:spcAft>
              <a:buSzPct val="145000"/>
              <a:buNone/>
            </a:pPr>
            <a:r>
              <a:t/>
            </a:r>
            <a:endParaRPr sz="6000">
              <a:latin typeface="Times New Roman"/>
              <a:ea typeface="Times New Roman"/>
              <a:cs typeface="Times New Roman"/>
              <a:sym typeface="Times New Roman"/>
            </a:endParaRPr>
          </a:p>
        </p:txBody>
      </p:sp>
      <p:pic>
        <p:nvPicPr>
          <p:cNvPr id="195" name="Google Shape;195;p24"/>
          <p:cNvPicPr preferRelativeResize="0"/>
          <p:nvPr/>
        </p:nvPicPr>
        <p:blipFill rotWithShape="1">
          <a:blip r:embed="rId3">
            <a:alphaModFix/>
          </a:blip>
          <a:srcRect b="0" l="0" r="0" t="0"/>
          <a:stretch/>
        </p:blipFill>
        <p:spPr>
          <a:xfrm>
            <a:off x="7803981" y="1599776"/>
            <a:ext cx="3917481" cy="3658441"/>
          </a:xfrm>
          <a:prstGeom prst="rect">
            <a:avLst/>
          </a:prstGeom>
          <a:noFill/>
          <a:ln>
            <a:noFill/>
          </a:ln>
        </p:spPr>
      </p:pic>
      <p:sp>
        <p:nvSpPr>
          <p:cNvPr id="196" name="Google Shape;196;p24"/>
          <p:cNvSpPr txBox="1"/>
          <p:nvPr>
            <p:ph idx="12" type="sldNum"/>
          </p:nvPr>
        </p:nvSpPr>
        <p:spPr>
          <a:xfrm>
            <a:off x="11503031" y="6385131"/>
            <a:ext cx="551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5"/>
          <p:cNvSpPr txBox="1"/>
          <p:nvPr>
            <p:ph type="title"/>
          </p:nvPr>
        </p:nvSpPr>
        <p:spPr>
          <a:xfrm>
            <a:off x="1483350" y="193350"/>
            <a:ext cx="10018800" cy="950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4F5B30"/>
              </a:buClr>
              <a:buSzPts val="3200"/>
              <a:buFont typeface="Times New Roman"/>
              <a:buNone/>
            </a:pPr>
            <a:r>
              <a:rPr b="1" lang="en-US" sz="3000">
                <a:solidFill>
                  <a:srgbClr val="4F5B30"/>
                </a:solidFill>
                <a:latin typeface="Times New Roman"/>
                <a:ea typeface="Times New Roman"/>
                <a:cs typeface="Times New Roman"/>
                <a:sym typeface="Times New Roman"/>
              </a:rPr>
              <a:t>Cost Analysis &amp; Work Distribution</a:t>
            </a:r>
            <a:endParaRPr sz="3000">
              <a:solidFill>
                <a:srgbClr val="4F5B30"/>
              </a:solidFill>
              <a:latin typeface="Times New Roman"/>
              <a:ea typeface="Times New Roman"/>
              <a:cs typeface="Times New Roman"/>
              <a:sym typeface="Times New Roman"/>
            </a:endParaRPr>
          </a:p>
        </p:txBody>
      </p:sp>
      <p:graphicFrame>
        <p:nvGraphicFramePr>
          <p:cNvPr id="202" name="Google Shape;202;p25"/>
          <p:cNvGraphicFramePr/>
          <p:nvPr/>
        </p:nvGraphicFramePr>
        <p:xfrm>
          <a:off x="1094360" y="1356137"/>
          <a:ext cx="3000000" cy="3000000"/>
        </p:xfrm>
        <a:graphic>
          <a:graphicData uri="http://schemas.openxmlformats.org/drawingml/2006/table">
            <a:tbl>
              <a:tblPr>
                <a:noFill/>
                <a:tableStyleId>{EC6AD8B8-187C-49E5-94B0-8BA135967B80}</a:tableStyleId>
              </a:tblPr>
              <a:tblGrid>
                <a:gridCol w="3043625"/>
                <a:gridCol w="1743050"/>
              </a:tblGrid>
              <a:tr h="599950">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Times New Roman"/>
                          <a:ea typeface="Times New Roman"/>
                          <a:cs typeface="Times New Roman"/>
                          <a:sym typeface="Times New Roman"/>
                        </a:rPr>
                        <a:t>Components</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Price</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61300">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STM32 Nucleo Board</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16,000</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99950">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ESP 32 (5)</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6,000</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99950">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Sensors</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13,000</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99950">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Storage Device</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20,000</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61300">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Display &amp; Other </a:t>
                      </a:r>
                      <a:r>
                        <a:rPr lang="en-US" sz="2400" u="none" cap="none" strike="noStrike">
                          <a:latin typeface="Times New Roman"/>
                          <a:ea typeface="Times New Roman"/>
                          <a:cs typeface="Times New Roman"/>
                          <a:sym typeface="Times New Roman"/>
                        </a:rPr>
                        <a:t>component</a:t>
                      </a:r>
                      <a:r>
                        <a:rPr b="0" i="0" lang="en-US" sz="2400" u="none" cap="none" strike="noStrike">
                          <a:solidFill>
                            <a:srgbClr val="000000"/>
                          </a:solidFill>
                          <a:latin typeface="Times New Roman"/>
                          <a:ea typeface="Times New Roman"/>
                          <a:cs typeface="Times New Roman"/>
                          <a:sym typeface="Times New Roman"/>
                        </a:rPr>
                        <a:t>s</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5,000</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99950">
                <a:tc>
                  <a:txBody>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Total</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60,000</a:t>
                      </a:r>
                      <a:endParaRPr sz="2400" u="none" cap="none" strike="noStrike">
                        <a:latin typeface="Times New Roman"/>
                        <a:ea typeface="Times New Roman"/>
                        <a:cs typeface="Times New Roman"/>
                        <a:sym typeface="Times New Roman"/>
                      </a:endParaRPr>
                    </a:p>
                  </a:txBody>
                  <a:tcPr marT="63500" marB="63500" marR="63500" marL="635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03" name="Google Shape;203;p25"/>
          <p:cNvSpPr/>
          <p:nvPr/>
        </p:nvSpPr>
        <p:spPr>
          <a:xfrm>
            <a:off x="-7070161" y="0"/>
            <a:ext cx="2365136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204" name="Google Shape;204;p25"/>
          <p:cNvSpPr txBox="1"/>
          <p:nvPr>
            <p:ph idx="12" type="sldNum"/>
          </p:nvPr>
        </p:nvSpPr>
        <p:spPr>
          <a:xfrm>
            <a:off x="11503031" y="6401263"/>
            <a:ext cx="551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aphicFrame>
        <p:nvGraphicFramePr>
          <p:cNvPr id="205" name="Google Shape;205;p25"/>
          <p:cNvGraphicFramePr/>
          <p:nvPr/>
        </p:nvGraphicFramePr>
        <p:xfrm>
          <a:off x="6117050" y="1356088"/>
          <a:ext cx="3000000" cy="3000000"/>
        </p:xfrm>
        <a:graphic>
          <a:graphicData uri="http://schemas.openxmlformats.org/drawingml/2006/table">
            <a:tbl>
              <a:tblPr>
                <a:noFill/>
                <a:tableStyleId>{BAF1878A-92A8-4652-806F-8DDCA8F434B7}</a:tableStyleId>
              </a:tblPr>
              <a:tblGrid>
                <a:gridCol w="3118750"/>
                <a:gridCol w="2746425"/>
              </a:tblGrid>
              <a:tr h="1040500">
                <a:tc>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latin typeface="Times New Roman"/>
                          <a:ea typeface="Times New Roman"/>
                          <a:cs typeface="Times New Roman"/>
                          <a:sym typeface="Times New Roman"/>
                        </a:rPr>
                        <a:t>Name</a:t>
                      </a:r>
                      <a:endParaRPr b="1" sz="22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latin typeface="Times New Roman"/>
                          <a:ea typeface="Times New Roman"/>
                          <a:cs typeface="Times New Roman"/>
                          <a:sym typeface="Times New Roman"/>
                        </a:rPr>
                        <a:t>Work Assigned</a:t>
                      </a:r>
                      <a:endParaRPr b="1" sz="2200" u="none" cap="none" strike="noStrike">
                        <a:latin typeface="Times New Roman"/>
                        <a:ea typeface="Times New Roman"/>
                        <a:cs typeface="Times New Roman"/>
                        <a:sym typeface="Times New Roman"/>
                      </a:endParaRPr>
                    </a:p>
                  </a:txBody>
                  <a:tcPr marT="91425" marB="91425" marR="91425" marL="91425"/>
                </a:tc>
              </a:tr>
              <a:tr h="104050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Times New Roman"/>
                          <a:ea typeface="Times New Roman"/>
                          <a:cs typeface="Times New Roman"/>
                          <a:sym typeface="Times New Roman"/>
                        </a:rPr>
                        <a:t>MUHAMMAD SALMAN</a:t>
                      </a:r>
                      <a:endParaRPr sz="22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Times New Roman"/>
                          <a:ea typeface="Times New Roman"/>
                          <a:cs typeface="Times New Roman"/>
                          <a:sym typeface="Times New Roman"/>
                        </a:rPr>
                        <a:t>Research and Development</a:t>
                      </a:r>
                      <a:endParaRPr sz="2200" u="none" cap="none" strike="noStrike">
                        <a:latin typeface="Times New Roman"/>
                        <a:ea typeface="Times New Roman"/>
                        <a:cs typeface="Times New Roman"/>
                        <a:sym typeface="Times New Roman"/>
                      </a:endParaRPr>
                    </a:p>
                  </a:txBody>
                  <a:tcPr marT="91425" marB="91425" marR="91425" marL="91425"/>
                </a:tc>
              </a:tr>
              <a:tr h="1040500">
                <a:tc>
                  <a:txBody>
                    <a:bodyPr/>
                    <a:lstStyle/>
                    <a:p>
                      <a:pPr indent="0" lvl="0" marL="0" marR="0" rtl="0" algn="l">
                        <a:lnSpc>
                          <a:spcPct val="100000"/>
                        </a:lnSpc>
                        <a:spcBef>
                          <a:spcPts val="0"/>
                        </a:spcBef>
                        <a:spcAft>
                          <a:spcPts val="0"/>
                        </a:spcAft>
                        <a:buClr>
                          <a:schemeClr val="dk1"/>
                        </a:buClr>
                        <a:buSzPts val="1100"/>
                        <a:buFont typeface="Arial"/>
                        <a:buNone/>
                      </a:pPr>
                      <a:r>
                        <a:rPr lang="en-US" sz="2200" u="none" cap="none" strike="noStrike">
                          <a:solidFill>
                            <a:schemeClr val="dk1"/>
                          </a:solidFill>
                          <a:latin typeface="Times New Roman"/>
                          <a:ea typeface="Times New Roman"/>
                          <a:cs typeface="Times New Roman"/>
                          <a:sym typeface="Times New Roman"/>
                        </a:rPr>
                        <a:t>MUHAMMAD MAHMOOD GHAURI</a:t>
                      </a:r>
                      <a:endParaRPr sz="22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Times New Roman"/>
                          <a:ea typeface="Times New Roman"/>
                          <a:cs typeface="Times New Roman"/>
                          <a:sym typeface="Times New Roman"/>
                        </a:rPr>
                        <a:t>Code Implementation</a:t>
                      </a:r>
                      <a:endParaRPr sz="2200" u="none" cap="none" strike="noStrike">
                        <a:latin typeface="Times New Roman"/>
                        <a:ea typeface="Times New Roman"/>
                        <a:cs typeface="Times New Roman"/>
                        <a:sym typeface="Times New Roman"/>
                      </a:endParaRPr>
                    </a:p>
                  </a:txBody>
                  <a:tcPr marT="91425" marB="91425" marR="91425" marL="91425"/>
                </a:tc>
              </a:tr>
              <a:tr h="1600850">
                <a:tc>
                  <a:txBody>
                    <a:bodyPr/>
                    <a:lstStyle/>
                    <a:p>
                      <a:pPr indent="0" lvl="0" marL="0" marR="0" rtl="0" algn="l">
                        <a:lnSpc>
                          <a:spcPct val="100000"/>
                        </a:lnSpc>
                        <a:spcBef>
                          <a:spcPts val="0"/>
                        </a:spcBef>
                        <a:spcAft>
                          <a:spcPts val="0"/>
                        </a:spcAft>
                        <a:buClr>
                          <a:schemeClr val="dk1"/>
                        </a:buClr>
                        <a:buSzPts val="1100"/>
                        <a:buFont typeface="Arial"/>
                        <a:buNone/>
                      </a:pPr>
                      <a:r>
                        <a:rPr lang="en-US" sz="2200" u="none" cap="none" strike="noStrike">
                          <a:solidFill>
                            <a:schemeClr val="dk1"/>
                          </a:solidFill>
                          <a:latin typeface="Times New Roman"/>
                          <a:ea typeface="Times New Roman"/>
                          <a:cs typeface="Times New Roman"/>
                          <a:sym typeface="Times New Roman"/>
                        </a:rPr>
                        <a:t>MUHAMMAD MOIN DILDAR</a:t>
                      </a:r>
                      <a:endParaRPr sz="22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Times New Roman"/>
                          <a:ea typeface="Times New Roman"/>
                          <a:cs typeface="Times New Roman"/>
                          <a:sym typeface="Times New Roman"/>
                        </a:rPr>
                        <a:t>PCB designing and Hardware implementation</a:t>
                      </a:r>
                      <a:endParaRPr sz="22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1484300" y="241400"/>
            <a:ext cx="10018800" cy="662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4F5B30"/>
              </a:buClr>
              <a:buSzPts val="3200"/>
              <a:buFont typeface="Times New Roman"/>
              <a:buNone/>
            </a:pPr>
            <a:r>
              <a:rPr b="1" lang="en-US" sz="3000">
                <a:solidFill>
                  <a:srgbClr val="4F5B30"/>
                </a:solidFill>
                <a:latin typeface="Times New Roman"/>
                <a:ea typeface="Times New Roman"/>
                <a:cs typeface="Times New Roman"/>
                <a:sym typeface="Times New Roman"/>
              </a:rPr>
              <a:t>Timeline</a:t>
            </a:r>
            <a:endParaRPr sz="3000">
              <a:solidFill>
                <a:srgbClr val="4F5B30"/>
              </a:solidFill>
              <a:latin typeface="Times New Roman"/>
              <a:ea typeface="Times New Roman"/>
              <a:cs typeface="Times New Roman"/>
              <a:sym typeface="Times New Roman"/>
            </a:endParaRPr>
          </a:p>
        </p:txBody>
      </p:sp>
      <p:pic>
        <p:nvPicPr>
          <p:cNvPr descr="https://lh7-us.googleusercontent.com/uc6qgGnjdOYHBtz9m9DuC9Fbknz1TAdyAGp3HjC5EKqcVBrZm0sIO44brUeIWOq4A4KpXIyLVlrN3duABNuJHoBXgrc9TD2L1y4P9bS9t2YifJ_fxM03lzyCRl01Cs2MMc-OlzIy6vv4Xbe0iHGS6NHbIw=s2048" id="211" name="Google Shape;211;p26"/>
          <p:cNvPicPr preferRelativeResize="0"/>
          <p:nvPr>
            <p:ph idx="1" type="body"/>
          </p:nvPr>
        </p:nvPicPr>
        <p:blipFill rotWithShape="1">
          <a:blip r:embed="rId3">
            <a:alphaModFix/>
          </a:blip>
          <a:srcRect b="0" l="0" r="0" t="0"/>
          <a:stretch/>
        </p:blipFill>
        <p:spPr>
          <a:xfrm>
            <a:off x="318350" y="1684150"/>
            <a:ext cx="11631300" cy="3627300"/>
          </a:xfrm>
          <a:prstGeom prst="rect">
            <a:avLst/>
          </a:prstGeom>
          <a:noFill/>
          <a:ln>
            <a:noFill/>
          </a:ln>
        </p:spPr>
      </p:pic>
      <p:sp>
        <p:nvSpPr>
          <p:cNvPr id="212" name="Google Shape;212;p26"/>
          <p:cNvSpPr txBox="1"/>
          <p:nvPr>
            <p:ph idx="12" type="sldNum"/>
          </p:nvPr>
        </p:nvSpPr>
        <p:spPr>
          <a:xfrm>
            <a:off x="11503031" y="6385131"/>
            <a:ext cx="551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213" name="Google Shape;213;p26"/>
          <p:cNvSpPr txBox="1"/>
          <p:nvPr/>
        </p:nvSpPr>
        <p:spPr>
          <a:xfrm>
            <a:off x="5082540" y="836930"/>
            <a:ext cx="2821940" cy="5530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000" u="none" cap="none" strike="noStrike">
                <a:solidFill>
                  <a:srgbClr val="4F5B30"/>
                </a:solidFill>
                <a:latin typeface="Times New Roman"/>
                <a:ea typeface="Times New Roman"/>
                <a:cs typeface="Times New Roman"/>
                <a:sym typeface="Times New Roman"/>
              </a:rPr>
              <a:t>References</a:t>
            </a:r>
            <a:endParaRPr b="1" i="0" sz="3000" u="none" cap="none" strike="noStrike">
              <a:solidFill>
                <a:srgbClr val="4F5B30"/>
              </a:solidFill>
              <a:latin typeface="Times New Roman"/>
              <a:ea typeface="Times New Roman"/>
              <a:cs typeface="Times New Roman"/>
              <a:sym typeface="Times New Roman"/>
            </a:endParaRPr>
          </a:p>
        </p:txBody>
      </p:sp>
      <p:sp>
        <p:nvSpPr>
          <p:cNvPr id="214" name="Google Shape;214;p26"/>
          <p:cNvSpPr txBox="1"/>
          <p:nvPr/>
        </p:nvSpPr>
        <p:spPr>
          <a:xfrm>
            <a:off x="1559560" y="1845310"/>
            <a:ext cx="9669145" cy="4336415"/>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00000"/>
              </a:lnSpc>
              <a:spcBef>
                <a:spcPts val="0"/>
              </a:spcBef>
              <a:spcAft>
                <a:spcPts val="0"/>
              </a:spcAft>
              <a:buClr>
                <a:srgbClr val="000000"/>
              </a:buClr>
              <a:buSzPts val="3480"/>
              <a:buFont typeface="Times New Roman"/>
              <a:buChar char="•"/>
            </a:pPr>
            <a:r>
              <a:rPr b="0" i="0" lang="en-US" sz="2400" u="none" cap="none" strike="noStrike">
                <a:solidFill>
                  <a:srgbClr val="000000"/>
                </a:solidFill>
                <a:highlight>
                  <a:srgbClr val="C0C0C0"/>
                </a:highlight>
                <a:latin typeface="Times New Roman"/>
                <a:ea typeface="Times New Roman"/>
                <a:cs typeface="Times New Roman"/>
                <a:sym typeface="Times New Roman"/>
              </a:rPr>
              <a:t>[1] C. L. Athanasiadis  T. A. Papadopoulos  D. I. Doukas , "Real-Time Non-Intrusive Load Monitoring: A Light-Weight and Scalable Approach," Greece, 2024.</a:t>
            </a:r>
            <a:endParaRPr b="0" i="0" sz="2400" u="none" cap="none" strike="noStrike">
              <a:solidFill>
                <a:srgbClr val="000000"/>
              </a:solidFill>
              <a:highlight>
                <a:srgbClr val="C0C0C0"/>
              </a:highlight>
              <a:latin typeface="Times New Roman"/>
              <a:ea typeface="Times New Roman"/>
              <a:cs typeface="Times New Roman"/>
              <a:sym typeface="Times New Roman"/>
            </a:endParaRPr>
          </a:p>
          <a:p>
            <a:pPr indent="-285750" lvl="0" marL="285750" marR="0" rtl="0" algn="just">
              <a:lnSpc>
                <a:spcPct val="100000"/>
              </a:lnSpc>
              <a:spcBef>
                <a:spcPts val="1080"/>
              </a:spcBef>
              <a:spcAft>
                <a:spcPts val="0"/>
              </a:spcAft>
              <a:buClr>
                <a:srgbClr val="000000"/>
              </a:buClr>
              <a:buSzPts val="3480"/>
              <a:buFont typeface="Times New Roman"/>
              <a:buChar char="•"/>
            </a:pPr>
            <a:r>
              <a:rPr b="0" i="0" lang="en-US" sz="2400" u="none" cap="none" strike="noStrike">
                <a:solidFill>
                  <a:srgbClr val="000000"/>
                </a:solidFill>
                <a:highlight>
                  <a:srgbClr val="C0C0C0"/>
                </a:highlight>
                <a:latin typeface="Times New Roman"/>
                <a:ea typeface="Times New Roman"/>
                <a:cs typeface="Times New Roman"/>
                <a:sym typeface="Times New Roman"/>
              </a:rPr>
              <a:t>[2] M. I. Azad, R. Rajabi, A. Estebsari, "Non-Intrusive Load Monitoring (NILM) using Deep Neural Networks, IEEE, Madrid, Spain.  2023.</a:t>
            </a:r>
            <a:endParaRPr b="0" i="0" sz="2400" u="none" cap="none" strike="noStrike">
              <a:solidFill>
                <a:srgbClr val="000000"/>
              </a:solidFill>
              <a:highlight>
                <a:srgbClr val="C0C0C0"/>
              </a:highlight>
              <a:latin typeface="Times New Roman"/>
              <a:ea typeface="Times New Roman"/>
              <a:cs typeface="Times New Roman"/>
              <a:sym typeface="Times New Roman"/>
            </a:endParaRPr>
          </a:p>
          <a:p>
            <a:pPr indent="-285750" lvl="0" marL="285750" marR="0" rtl="0" algn="just">
              <a:lnSpc>
                <a:spcPct val="100000"/>
              </a:lnSpc>
              <a:spcBef>
                <a:spcPts val="1080"/>
              </a:spcBef>
              <a:spcAft>
                <a:spcPts val="0"/>
              </a:spcAft>
              <a:buClr>
                <a:srgbClr val="000000"/>
              </a:buClr>
              <a:buSzPts val="3480"/>
              <a:buFont typeface="Times New Roman"/>
              <a:buChar char="•"/>
            </a:pPr>
            <a:r>
              <a:rPr b="0" i="0" lang="en-US" sz="2400" u="none" cap="none" strike="noStrike">
                <a:solidFill>
                  <a:srgbClr val="000000"/>
                </a:solidFill>
                <a:highlight>
                  <a:srgbClr val="C0C0C0"/>
                </a:highlight>
                <a:latin typeface="Times New Roman"/>
                <a:ea typeface="Times New Roman"/>
                <a:cs typeface="Times New Roman"/>
                <a:sym typeface="Times New Roman"/>
              </a:rPr>
              <a:t>[3] S. Mari, . G. Bucci, . F. Ciancetta, . E. Fiorucci and A. Fioravanti, "An Embedded Deep Learning NILM System," in IEEE Transactions on Instrumentation and Measurement, L’Aquila, 2023.</a:t>
            </a:r>
            <a:endParaRPr b="0" i="0" sz="2400" u="none" cap="none" strike="noStrike">
              <a:solidFill>
                <a:srgbClr val="000000"/>
              </a:solidFill>
              <a:highlight>
                <a:srgbClr val="C0C0C0"/>
              </a:highlight>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